
<file path=[Content_Types].xml><?xml version="1.0" encoding="utf-8"?>
<Types xmlns="http://schemas.openxmlformats.org/package/2006/content-types">
  <Default ContentType="image/png" Extension="png"/>
  <Default ContentType="image/jpeg" Extension="jpeg"/>
  <Default ContentType="application/vnd.openxmlformats-package.relationships+xml" Extension="rels"/>
  <Default ContentType="application/xml" Extension="xml"/>
  <Default ContentType="application/x-fontdata" Extension="fntdata"/>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rimo Bold" panose="020B0604020202020204" charset="0"/>
      <p:regular r:id="rId10"/>
    </p:embeddedFont>
    <p:embeddedFont>
      <p:font typeface="Calibri" panose="020F0502020204030204" pitchFamily="34" charset="0"/>
      <p:regular r:id="rId11"/>
      <p:bold r:id="rId12"/>
      <p:italic r:id="rId13"/>
      <p:boldItalic r:id="rId14"/>
    </p:embeddedFont>
    <p:embeddedFont>
      <p:font typeface="Canva Sans Bold" panose="020B0604020202020204" charset="0"/>
      <p:regular r:id="rId15"/>
    </p:embeddedFont>
    <p:embeddedFont>
      <p:font typeface="Open Sans Bold" panose="020B0604020202020204" charset="0"/>
      <p:regular r:id="rId16"/>
    </p:embeddedFont>
    <p:embeddedFont>
      <p:font typeface="Poppi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D19C26">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7259300" y="9258300"/>
            <a:ext cx="1028700" cy="10287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D19C26"/>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7413153" y="9638067"/>
            <a:ext cx="720994" cy="240591"/>
          </a:xfrm>
          <a:prstGeom prst="rect">
            <a:avLst/>
          </a:prstGeom>
        </p:spPr>
        <p:txBody>
          <a:bodyPr lIns="0" tIns="0" rIns="0" bIns="0" rtlCol="0" anchor="t">
            <a:spAutoFit/>
          </a:bodyPr>
          <a:lstStyle/>
          <a:p>
            <a:pPr algn="ctr">
              <a:lnSpc>
                <a:spcPts val="1960"/>
              </a:lnSpc>
              <a:spcBef>
                <a:spcPct val="0"/>
              </a:spcBef>
            </a:pPr>
            <a:r>
              <a:rPr lang="en-US" sz="1400" b="1">
                <a:solidFill>
                  <a:srgbClr val="FFFFFF"/>
                </a:solidFill>
                <a:latin typeface="Open Sans Bold"/>
                <a:ea typeface="Open Sans Bold"/>
                <a:cs typeface="Open Sans Bold"/>
                <a:sym typeface="Open Sans Bold"/>
              </a:rPr>
              <a:t>01</a:t>
            </a:r>
          </a:p>
        </p:txBody>
      </p:sp>
      <p:sp>
        <p:nvSpPr>
          <p:cNvPr id="6" name="TextBox 6"/>
          <p:cNvSpPr txBox="1"/>
          <p:nvPr/>
        </p:nvSpPr>
        <p:spPr>
          <a:xfrm>
            <a:off x="1028700" y="703803"/>
            <a:ext cx="15101537" cy="6501133"/>
          </a:xfrm>
          <a:prstGeom prst="rect">
            <a:avLst/>
          </a:prstGeom>
        </p:spPr>
        <p:txBody>
          <a:bodyPr lIns="0" tIns="0" rIns="0" bIns="0" rtlCol="0" anchor="t">
            <a:spAutoFit/>
          </a:bodyPr>
          <a:lstStyle/>
          <a:p>
            <a:pPr algn="ctr">
              <a:lnSpc>
                <a:spcPts val="10219"/>
              </a:lnSpc>
            </a:pPr>
            <a:r>
              <a:rPr lang="en-US" sz="7299" b="1" dirty="0">
                <a:solidFill>
                  <a:srgbClr val="FFFFFF"/>
                </a:solidFill>
                <a:latin typeface="Poppins Bold"/>
                <a:ea typeface="Poppins Bold"/>
                <a:cs typeface="Poppins Bold"/>
                <a:sym typeface="Poppins Bold"/>
              </a:rPr>
              <a:t>Improving crop production using an </a:t>
            </a:r>
            <a:r>
              <a:rPr lang="en-US" sz="7299" b="1" dirty="0" err="1">
                <a:solidFill>
                  <a:srgbClr val="FFFFFF"/>
                </a:solidFill>
                <a:latin typeface="Poppins Bold"/>
                <a:ea typeface="Poppins Bold"/>
                <a:cs typeface="Poppins Bold"/>
                <a:sym typeface="Poppins Bold"/>
              </a:rPr>
              <a:t>agro</a:t>
            </a:r>
            <a:r>
              <a:rPr lang="en-US" sz="7299" b="1" dirty="0">
                <a:solidFill>
                  <a:srgbClr val="FFFFFF"/>
                </a:solidFill>
                <a:latin typeface="Poppins Bold"/>
                <a:ea typeface="Poppins Bold"/>
                <a:cs typeface="Poppins Bold"/>
                <a:sym typeface="Poppins Bold"/>
              </a:rPr>
              <a:t>-deep learning framework in precision agriculture</a:t>
            </a:r>
          </a:p>
          <a:p>
            <a:pPr algn="ctr">
              <a:lnSpc>
                <a:spcPts val="10219"/>
              </a:lnSpc>
              <a:spcBef>
                <a:spcPct val="0"/>
              </a:spcBef>
            </a:pPr>
            <a:endParaRPr lang="en-US" sz="7299" b="1" dirty="0">
              <a:solidFill>
                <a:srgbClr val="FFFFFF"/>
              </a:solidFill>
              <a:latin typeface="Poppins Bold"/>
              <a:ea typeface="Poppins Bold"/>
              <a:cs typeface="Poppins Bold"/>
              <a:sym typeface="Poppins Bold"/>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a:off x="17259300" y="9258300"/>
            <a:ext cx="1028700" cy="1028700"/>
            <a:chOff x="0" y="0"/>
            <a:chExt cx="812800" cy="812800"/>
          </a:xfrm>
        </p:grpSpPr>
        <p:sp>
          <p:nvSpPr>
            <p:cNvPr id="3" name="Freeform 3"/>
            <p:cNvSpPr/>
            <p:nvPr/>
          </p:nvSpPr>
          <p:spPr>
            <a:xfrm>
              <a:off x="0" y="0"/>
              <a:ext cx="812800" cy="812800"/>
            </a:xfrm>
            <a:custGeom>
              <a:avLst/>
              <a:gdLst/>
              <a:ahLst/>
              <a:cxnLst/>
              <a:rect b="b" l="l" r="r" t="t"/>
              <a:pathLst>
                <a:path h="812800" w="812800">
                  <a:moveTo>
                    <a:pt x="0" y="0"/>
                  </a:moveTo>
                  <a:lnTo>
                    <a:pt x="812800" y="0"/>
                  </a:lnTo>
                  <a:lnTo>
                    <a:pt x="812800" y="812800"/>
                  </a:lnTo>
                  <a:lnTo>
                    <a:pt x="0" y="812800"/>
                  </a:lnTo>
                  <a:close/>
                </a:path>
              </a:pathLst>
            </a:custGeom>
            <a:solidFill>
              <a:srgbClr val="D19C26"/>
            </a:solidFill>
          </p:spPr>
        </p:sp>
        <p:sp>
          <p:nvSpPr>
            <p:cNvPr id="4" name="TextBox 4"/>
            <p:cNvSpPr txBox="1"/>
            <p:nvPr/>
          </p:nvSpPr>
          <p:spPr>
            <a:xfrm>
              <a:off x="0" y="-38100"/>
              <a:ext cx="812800" cy="850900"/>
            </a:xfrm>
            <a:prstGeom prst="rect">
              <a:avLst/>
            </a:prstGeom>
          </p:spPr>
          <p:txBody>
            <a:bodyPr anchor="ctr" bIns="50800" lIns="50800" rIns="50800" rtlCol="0" tIns="50800"/>
            <a:lstStyle/>
            <a:p>
              <a:pPr algn="ctr">
                <a:lnSpc>
                  <a:spcPts val="2659"/>
                </a:lnSpc>
                <a:spcBef>
                  <a:spcPct val="0"/>
                </a:spcBef>
              </a:pPr>
              <a:endParaRPr/>
            </a:p>
          </p:txBody>
        </p:sp>
      </p:grpSp>
      <p:grpSp>
        <p:nvGrpSpPr>
          <p:cNvPr id="5" name="Group 5"/>
          <p:cNvGrpSpPr/>
          <p:nvPr/>
        </p:nvGrpSpPr>
        <p:grpSpPr>
          <a:xfrm>
            <a:off x="0" y="0"/>
            <a:ext cx="18288000" cy="10287000"/>
            <a:chOff x="0" y="0"/>
            <a:chExt cx="24384000" cy="13716000"/>
          </a:xfrm>
        </p:grpSpPr>
        <p:pic>
          <p:nvPicPr>
            <p:cNvPr id="6" name="Picture 6"/>
            <p:cNvPicPr>
              <a:picLocks noChangeAspect="1"/>
            </p:cNvPicPr>
            <p:nvPr/>
          </p:nvPicPr>
          <p:blipFill>
            <a:blip r:embed="rId2">
              <a:alphaModFix amt="25000"/>
            </a:blip>
            <a:srcRect b="1" t="1"/>
            <a:stretch>
              <a:fillRect/>
            </a:stretch>
          </p:blipFill>
          <p:spPr>
            <a:xfrm>
              <a:off x="0" y="0"/>
              <a:ext cx="24384000" cy="13716000"/>
            </a:xfrm>
            <a:prstGeom prst="rect">
              <a:avLst/>
            </a:prstGeom>
          </p:spPr>
        </p:pic>
      </p:grpSp>
      <p:grpSp>
        <p:nvGrpSpPr>
          <p:cNvPr id="7" name="Group 7"/>
          <p:cNvGrpSpPr/>
          <p:nvPr/>
        </p:nvGrpSpPr>
        <p:grpSpPr>
          <a:xfrm>
            <a:off x="7127645" y="1028700"/>
            <a:ext cx="2849526" cy="48836"/>
            <a:chOff x="0" y="0"/>
            <a:chExt cx="2251478" cy="38586"/>
          </a:xfrm>
        </p:grpSpPr>
        <p:sp>
          <p:nvSpPr>
            <p:cNvPr id="8" name="Freeform 8"/>
            <p:cNvSpPr/>
            <p:nvPr/>
          </p:nvSpPr>
          <p:spPr>
            <a:xfrm>
              <a:off x="0" y="0"/>
              <a:ext cx="2251478" cy="38586"/>
            </a:xfrm>
            <a:custGeom>
              <a:avLst/>
              <a:gdLst/>
              <a:ahLst/>
              <a:cxnLst/>
              <a:rect b="b" l="l" r="r" t="t"/>
              <a:pathLst>
                <a:path h="38586" w="2251478">
                  <a:moveTo>
                    <a:pt x="0" y="0"/>
                  </a:moveTo>
                  <a:lnTo>
                    <a:pt x="2251478" y="0"/>
                  </a:lnTo>
                  <a:lnTo>
                    <a:pt x="2251478" y="38586"/>
                  </a:lnTo>
                  <a:lnTo>
                    <a:pt x="0" y="38586"/>
                  </a:lnTo>
                  <a:close/>
                </a:path>
              </a:pathLst>
            </a:custGeom>
            <a:solidFill>
              <a:srgbClr val="D19C26"/>
            </a:solidFill>
          </p:spPr>
        </p:sp>
        <p:sp>
          <p:nvSpPr>
            <p:cNvPr id="9" name="TextBox 9"/>
            <p:cNvSpPr txBox="1"/>
            <p:nvPr/>
          </p:nvSpPr>
          <p:spPr>
            <a:xfrm>
              <a:off x="0" y="-38100"/>
              <a:ext cx="2251478" cy="76686"/>
            </a:xfrm>
            <a:prstGeom prst="rect">
              <a:avLst/>
            </a:prstGeom>
          </p:spPr>
          <p:txBody>
            <a:bodyPr anchor="ctr" bIns="50800" lIns="50800" rIns="50800" rtlCol="0" tIns="50800"/>
            <a:lstStyle/>
            <a:p>
              <a:pPr algn="ctr">
                <a:lnSpc>
                  <a:spcPts val="2659"/>
                </a:lnSpc>
                <a:spcBef>
                  <a:spcPct val="0"/>
                </a:spcBef>
              </a:pPr>
              <a:endParaRPr/>
            </a:p>
          </p:txBody>
        </p:sp>
      </p:grpSp>
      <p:sp>
        <p:nvSpPr>
          <p:cNvPr id="10" name="TextBox 10"/>
          <p:cNvSpPr txBox="1"/>
          <p:nvPr/>
        </p:nvSpPr>
        <p:spPr>
          <a:xfrm>
            <a:off x="7127645" y="282829"/>
            <a:ext cx="5391347" cy="745871"/>
          </a:xfrm>
          <a:prstGeom prst="rect">
            <a:avLst/>
          </a:prstGeom>
        </p:spPr>
        <p:txBody>
          <a:bodyPr anchor="t" bIns="0" lIns="0" rIns="0" rtlCol="0" tIns="0">
            <a:spAutoFit/>
          </a:bodyPr>
          <a:lstStyle/>
          <a:p>
            <a:pPr algn="l">
              <a:lnSpc>
                <a:spcPts val="5632"/>
              </a:lnSpc>
            </a:pPr>
            <a:r>
              <a:rPr b="1" lang="en-US" sz="4400">
                <a:solidFill>
                  <a:srgbClr val="1F2020"/>
                </a:solidFill>
                <a:latin typeface="Poppins Bold"/>
                <a:ea typeface="Poppins Bold"/>
                <a:cs typeface="Poppins Bold"/>
                <a:sym typeface="Poppins Bold"/>
              </a:rPr>
              <a:t>Core Idea</a:t>
            </a:r>
          </a:p>
        </p:txBody>
      </p:sp>
      <p:sp>
        <p:nvSpPr>
          <p:cNvPr id="11" name="TextBox 11"/>
          <p:cNvSpPr txBox="1"/>
          <p:nvPr/>
        </p:nvSpPr>
        <p:spPr>
          <a:xfrm>
            <a:off x="0" y="2681035"/>
            <a:ext cx="18288000" cy="5689600"/>
          </a:xfrm>
          <a:prstGeom prst="rect">
            <a:avLst/>
          </a:prstGeom>
        </p:spPr>
        <p:txBody>
          <a:bodyPr anchor="t" bIns="0" lIns="0" rIns="0" rtlCol="0" tIns="0">
            <a:spAutoFit/>
          </a:bodyPr>
          <a:lstStyle/>
          <a:p>
            <a:pPr algn="ctr">
              <a:lnSpc>
                <a:spcPts val="3499"/>
              </a:lnSpc>
              <a:spcBef>
                <a:spcPct val="0"/>
              </a:spcBef>
            </a:pPr>
            <a:r>
              <a:rPr b="1" lang="en-US" sz="2499">
                <a:solidFill>
                  <a:srgbClr val="000000"/>
                </a:solidFill>
                <a:latin typeface="Arimo Bold"/>
                <a:ea typeface="Arimo Bold"/>
                <a:cs typeface="Arimo Bold"/>
                <a:sym typeface="Arimo Bold"/>
              </a:rPr>
              <a:t>In order to increase the precision of crop yield prediction and yield classification, the main goal of this project is to create an Agro Deep Learning Framework (ADLF) that incorporates multi-source agricultural data, such as environmental, soil, weather, satellite, and image-based information.</a:t>
            </a:r>
          </a:p>
          <a:p>
            <a:pPr algn="ctr">
              <a:lnSpc>
                <a:spcPts val="3499"/>
              </a:lnSpc>
              <a:spcBef>
                <a:spcPct val="0"/>
              </a:spcBef>
            </a:pPr>
            <a:r>
              <a:rPr b="1" lang="en-US" sz="2499">
                <a:solidFill>
                  <a:srgbClr val="000000"/>
                </a:solidFill>
                <a:latin typeface="Arimo Bold"/>
                <a:ea typeface="Arimo Bold"/>
                <a:cs typeface="Arimo Bold"/>
                <a:sym typeface="Arimo Bold"/>
              </a:rPr>
              <a:t> The intricate relationships between various agricultural factors are frequently missed by traditional machine learning models, which frequently rely on a single type of data (such as environmental or tabular features).</a:t>
            </a:r>
          </a:p>
          <a:p>
            <a:pPr algn="ctr">
              <a:lnSpc>
                <a:spcPts val="3499"/>
              </a:lnSpc>
              <a:spcBef>
                <a:spcPct val="0"/>
              </a:spcBef>
            </a:pPr>
            <a:r>
              <a:rPr b="1" lang="en-US" sz="2499">
                <a:solidFill>
                  <a:srgbClr val="000000"/>
                </a:solidFill>
                <a:latin typeface="Arimo Bold"/>
                <a:ea typeface="Arimo Bold"/>
                <a:cs typeface="Arimo Bold"/>
                <a:sym typeface="Arimo Bold"/>
              </a:rPr>
              <a:t> By creating a multi-input convolutional neural network (CNN) with specialised branches that can learn from diverse inputs, this project overcomes that constraint. Different data sources are processed by each branch, and Dense-Inception layers, Spatial Pyramid Pooling (SPP), and Attention mechanisms are used to fuse the features that have been extracted.</a:t>
            </a:r>
          </a:p>
          <a:p>
            <a:pPr algn="ctr">
              <a:lnSpc>
                <a:spcPts val="3499"/>
              </a:lnSpc>
              <a:spcBef>
                <a:spcPct val="0"/>
              </a:spcBef>
            </a:pPr>
            <a:r>
              <a:rPr b="1" lang="en-US" sz="2499">
                <a:solidFill>
                  <a:srgbClr val="000000"/>
                </a:solidFill>
                <a:latin typeface="Arimo Bold"/>
                <a:ea typeface="Arimo Bold"/>
                <a:cs typeface="Arimo Bold"/>
                <a:sym typeface="Arimo Bold"/>
              </a:rPr>
              <a:t>The framework's ability to gather varied data from various sources is made possible by its design, which offers a more comprehensive understanding of the variables affecting yield.</a:t>
            </a:r>
          </a:p>
          <a:p>
            <a:pPr algn="ctr">
              <a:lnSpc>
                <a:spcPts val="3499"/>
              </a:lnSpc>
              <a:spcBef>
                <a:spcPct val="0"/>
              </a:spcBef>
            </a:pPr>
            <a:r>
              <a:rPr b="1" lang="en-US" sz="2499">
                <a:solidFill>
                  <a:srgbClr val="000000"/>
                </a:solidFill>
                <a:latin typeface="Arimo Bold"/>
                <a:ea typeface="Arimo Bold"/>
                <a:cs typeface="Arimo Bold"/>
                <a:sym typeface="Arimo Bold"/>
              </a:rPr>
              <a:t> In order to help farmers and policymakers maximise crop productivity and resource use, the ultimate goal is to enable data-driven decision support in precision agriculture.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a:off x="17259300" y="9258300"/>
            <a:ext cx="1028700" cy="1028700"/>
            <a:chOff x="0" y="0"/>
            <a:chExt cx="812800" cy="812800"/>
          </a:xfrm>
        </p:grpSpPr>
        <p:sp>
          <p:nvSpPr>
            <p:cNvPr id="3" name="Freeform 3"/>
            <p:cNvSpPr/>
            <p:nvPr/>
          </p:nvSpPr>
          <p:spPr>
            <a:xfrm>
              <a:off x="0" y="0"/>
              <a:ext cx="812800" cy="812800"/>
            </a:xfrm>
            <a:custGeom>
              <a:avLst/>
              <a:gdLst/>
              <a:ahLst/>
              <a:cxnLst/>
              <a:rect b="b" l="l" r="r" t="t"/>
              <a:pathLst>
                <a:path h="812800" w="812800">
                  <a:moveTo>
                    <a:pt x="0" y="0"/>
                  </a:moveTo>
                  <a:lnTo>
                    <a:pt x="812800" y="0"/>
                  </a:lnTo>
                  <a:lnTo>
                    <a:pt x="812800" y="812800"/>
                  </a:lnTo>
                  <a:lnTo>
                    <a:pt x="0" y="812800"/>
                  </a:lnTo>
                  <a:close/>
                </a:path>
              </a:pathLst>
            </a:custGeom>
            <a:solidFill>
              <a:srgbClr val="D19C26"/>
            </a:solidFill>
          </p:spPr>
        </p:sp>
        <p:sp>
          <p:nvSpPr>
            <p:cNvPr id="4" name="TextBox 4"/>
            <p:cNvSpPr txBox="1"/>
            <p:nvPr/>
          </p:nvSpPr>
          <p:spPr>
            <a:xfrm>
              <a:off x="0" y="-38100"/>
              <a:ext cx="812800" cy="850900"/>
            </a:xfrm>
            <a:prstGeom prst="rect">
              <a:avLst/>
            </a:prstGeom>
          </p:spPr>
          <p:txBody>
            <a:bodyPr anchor="ctr" bIns="50800" lIns="50800" rIns="50800" rtlCol="0" tIns="50800"/>
            <a:lstStyle/>
            <a:p>
              <a:pPr algn="ctr">
                <a:lnSpc>
                  <a:spcPts val="2659"/>
                </a:lnSpc>
                <a:spcBef>
                  <a:spcPct val="0"/>
                </a:spcBef>
              </a:pPr>
              <a:endParaRPr/>
            </a:p>
          </p:txBody>
        </p:sp>
      </p:grpSp>
      <p:sp>
        <p:nvSpPr>
          <p:cNvPr id="5" name="TextBox 5"/>
          <p:cNvSpPr txBox="1"/>
          <p:nvPr/>
        </p:nvSpPr>
        <p:spPr>
          <a:xfrm>
            <a:off x="17413153" y="9638067"/>
            <a:ext cx="720994" cy="240591"/>
          </a:xfrm>
          <a:prstGeom prst="rect">
            <a:avLst/>
          </a:prstGeom>
        </p:spPr>
        <p:txBody>
          <a:bodyPr anchor="t" bIns="0" lIns="0" rIns="0" rtlCol="0" tIns="0">
            <a:spAutoFit/>
          </a:bodyPr>
          <a:lstStyle/>
          <a:p>
            <a:pPr algn="ctr">
              <a:lnSpc>
                <a:spcPts val="1960"/>
              </a:lnSpc>
              <a:spcBef>
                <a:spcPct val="0"/>
              </a:spcBef>
            </a:pPr>
            <a:r>
              <a:rPr b="1" lang="en-US" sz="1400">
                <a:solidFill>
                  <a:srgbClr val="FFFFFF"/>
                </a:solidFill>
                <a:latin typeface="Open Sans Bold"/>
                <a:ea typeface="Open Sans Bold"/>
                <a:cs typeface="Open Sans Bold"/>
                <a:sym typeface="Open Sans Bold"/>
              </a:rPr>
              <a:t>03</a:t>
            </a:r>
          </a:p>
        </p:txBody>
      </p:sp>
      <p:grpSp>
        <p:nvGrpSpPr>
          <p:cNvPr id="6" name="Group 6"/>
          <p:cNvGrpSpPr/>
          <p:nvPr/>
        </p:nvGrpSpPr>
        <p:grpSpPr>
          <a:xfrm>
            <a:off x="0" y="0"/>
            <a:ext cx="18288000" cy="10287000"/>
            <a:chOff x="0" y="0"/>
            <a:chExt cx="24384000" cy="13716000"/>
          </a:xfrm>
        </p:grpSpPr>
        <p:pic>
          <p:nvPicPr>
            <p:cNvPr id="7" name="Picture 7"/>
            <p:cNvPicPr>
              <a:picLocks noChangeAspect="1"/>
            </p:cNvPicPr>
            <p:nvPr/>
          </p:nvPicPr>
          <p:blipFill>
            <a:blip r:embed="rId2">
              <a:alphaModFix amt="12000"/>
            </a:blip>
            <a:srcRect b="28" t="31"/>
            <a:stretch>
              <a:fillRect/>
            </a:stretch>
          </p:blipFill>
          <p:spPr>
            <a:xfrm>
              <a:off x="0" y="0"/>
              <a:ext cx="24384000" cy="13716000"/>
            </a:xfrm>
            <a:prstGeom prst="rect">
              <a:avLst/>
            </a:prstGeom>
          </p:spPr>
        </p:pic>
      </p:grpSp>
      <p:sp>
        <p:nvSpPr>
          <p:cNvPr id="8" name="TextBox 8"/>
          <p:cNvSpPr txBox="1"/>
          <p:nvPr/>
        </p:nvSpPr>
        <p:spPr>
          <a:xfrm>
            <a:off x="4273455" y="282829"/>
            <a:ext cx="16354735" cy="745871"/>
          </a:xfrm>
          <a:prstGeom prst="rect">
            <a:avLst/>
          </a:prstGeom>
        </p:spPr>
        <p:txBody>
          <a:bodyPr anchor="t" bIns="0" lIns="0" rIns="0" rtlCol="0" tIns="0">
            <a:spAutoFit/>
          </a:bodyPr>
          <a:lstStyle/>
          <a:p>
            <a:pPr algn="l">
              <a:lnSpc>
                <a:spcPts val="5632"/>
              </a:lnSpc>
            </a:pPr>
            <a:r>
              <a:rPr b="1" lang="en-US" sz="4400">
                <a:solidFill>
                  <a:srgbClr val="1F2020"/>
                </a:solidFill>
                <a:latin typeface="Poppins Bold"/>
                <a:ea typeface="Poppins Bold"/>
                <a:cs typeface="Poppins Bold"/>
                <a:sym typeface="Poppins Bold"/>
              </a:rPr>
              <a:t>Introduction and Problem Definition</a:t>
            </a:r>
          </a:p>
        </p:txBody>
      </p:sp>
      <p:grpSp>
        <p:nvGrpSpPr>
          <p:cNvPr id="9" name="Group 9"/>
          <p:cNvGrpSpPr/>
          <p:nvPr/>
        </p:nvGrpSpPr>
        <p:grpSpPr>
          <a:xfrm>
            <a:off x="8233733" y="1265521"/>
            <a:ext cx="1217927" cy="47625"/>
            <a:chOff x="0" y="0"/>
            <a:chExt cx="962313" cy="37630"/>
          </a:xfrm>
        </p:grpSpPr>
        <p:sp>
          <p:nvSpPr>
            <p:cNvPr id="10" name="Freeform 10"/>
            <p:cNvSpPr/>
            <p:nvPr/>
          </p:nvSpPr>
          <p:spPr>
            <a:xfrm>
              <a:off x="0" y="0"/>
              <a:ext cx="962313" cy="37630"/>
            </a:xfrm>
            <a:custGeom>
              <a:avLst/>
              <a:gdLst/>
              <a:ahLst/>
              <a:cxnLst/>
              <a:rect b="b" l="l" r="r" t="t"/>
              <a:pathLst>
                <a:path h="37630" w="962313">
                  <a:moveTo>
                    <a:pt x="0" y="0"/>
                  </a:moveTo>
                  <a:lnTo>
                    <a:pt x="962313" y="0"/>
                  </a:lnTo>
                  <a:lnTo>
                    <a:pt x="962313" y="37630"/>
                  </a:lnTo>
                  <a:lnTo>
                    <a:pt x="0" y="37630"/>
                  </a:lnTo>
                  <a:close/>
                </a:path>
              </a:pathLst>
            </a:custGeom>
            <a:solidFill>
              <a:srgbClr val="D19C26"/>
            </a:solidFill>
          </p:spPr>
        </p:sp>
        <p:sp>
          <p:nvSpPr>
            <p:cNvPr id="11" name="TextBox 11"/>
            <p:cNvSpPr txBox="1"/>
            <p:nvPr/>
          </p:nvSpPr>
          <p:spPr>
            <a:xfrm>
              <a:off x="0" y="-38100"/>
              <a:ext cx="962313" cy="75730"/>
            </a:xfrm>
            <a:prstGeom prst="rect">
              <a:avLst/>
            </a:prstGeom>
          </p:spPr>
          <p:txBody>
            <a:bodyPr anchor="ctr" bIns="50800" lIns="50800" rIns="50800" rtlCol="0" tIns="50800"/>
            <a:lstStyle/>
            <a:p>
              <a:pPr algn="ctr">
                <a:lnSpc>
                  <a:spcPts val="2659"/>
                </a:lnSpc>
                <a:spcBef>
                  <a:spcPct val="0"/>
                </a:spcBef>
              </a:pPr>
              <a:endParaRPr/>
            </a:p>
          </p:txBody>
        </p:sp>
      </p:grpSp>
      <p:sp>
        <p:nvSpPr>
          <p:cNvPr id="12" name="TextBox 12"/>
          <p:cNvSpPr txBox="1"/>
          <p:nvPr/>
        </p:nvSpPr>
        <p:spPr>
          <a:xfrm>
            <a:off x="0" y="1503646"/>
            <a:ext cx="18288000" cy="7190105"/>
          </a:xfrm>
          <a:prstGeom prst="rect">
            <a:avLst/>
          </a:prstGeom>
        </p:spPr>
        <p:txBody>
          <a:bodyPr anchor="t" bIns="0" lIns="0" rIns="0" rtlCol="0" tIns="0">
            <a:spAutoFit/>
          </a:bodyPr>
          <a:lstStyle/>
          <a:p>
            <a:pPr algn="ctr">
              <a:lnSpc>
                <a:spcPts val="3219"/>
              </a:lnSpc>
              <a:spcBef>
                <a:spcPct val="0"/>
              </a:spcBef>
            </a:pPr>
            <a:r>
              <a:rPr b="1" lang="en-US" sz="2299">
                <a:solidFill>
                  <a:srgbClr val="000000"/>
                </a:solidFill>
                <a:latin typeface="Canva Sans Bold"/>
                <a:ea typeface="Canva Sans Bold"/>
                <a:cs typeface="Canva Sans Bold"/>
                <a:sym typeface="Canva Sans Bold"/>
              </a:rPr>
              <a:t>Agriculture is essential to rural livelihood and food security. However, a number of factors, including erratic weather patterns, fluctuations in soil fertility, sporadic rainfall, and restricted access to real-time data-driven insights, significantly impact crop productivity in many regions.</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 Because it facilitates effective decision-making in crop planning, irrigation scheduling, and resource management, accurate crop yield prediction has thus emerged as a critical challenge in contemporary precision agriculture.</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Using separate data sources, such as soil or weather data, traditional statistical and machine learning techniques, like linear regression, Random Forest, and SVM, have demonstrated some success in modelling yield patterns.</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 These models are constrained, though, in three ways:</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 1. they are unable to capture the non-linear interactions between various agricultural factors; </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2. they are unable to integrate data from multiple sources (such as soil, weather, satellite, and crop features); and </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3. they are not scalable when working with high-dimensional or image-based agricultural datasets. </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This mini project suggests an Agro Deep Learning Framework (ADLF) built on a multi-input convolutional neural network (CNN) architecture in order to get around these restrictions.</a:t>
            </a:r>
          </a:p>
          <a:p>
            <a:pPr algn="ctr">
              <a:lnSpc>
                <a:spcPts val="3219"/>
              </a:lnSpc>
              <a:spcBef>
                <a:spcPct val="0"/>
              </a:spcBef>
            </a:pPr>
            <a:r>
              <a:rPr b="1" lang="en-US" sz="2299">
                <a:solidFill>
                  <a:srgbClr val="000000"/>
                </a:solidFill>
                <a:latin typeface="Canva Sans Bold"/>
                <a:ea typeface="Canva Sans Bold"/>
                <a:cs typeface="Canva Sans Bold"/>
                <a:sym typeface="Canva Sans Bold"/>
              </a:rPr>
              <a:t> NDVI-based satellite indices, weather and soil parameters, tabular environmental features, and optionally image data are among the various forms of agricultural data that the framework is intended to process and combine into a single model.</a:t>
            </a:r>
          </a:p>
          <a:p>
            <a:pPr algn="ctr">
              <a:lnSpc>
                <a:spcPts val="3219"/>
              </a:lnSpc>
              <a:spcBef>
                <a:spcPct val="0"/>
              </a:spcBef>
            </a:pPr>
            <a:endParaRPr b="1" lang="en-US" sz="2299">
              <a:solidFill>
                <a:srgbClr val="000000"/>
              </a:solidFill>
              <a:latin typeface="Canva Sans Bold"/>
              <a:ea typeface="Canva Sans Bold"/>
              <a:cs typeface="Canva Sans Bold"/>
              <a:sym typeface="Canva Sans Bold"/>
            </a:endParaRPr>
          </a:p>
          <a:p>
            <a:pPr algn="ctr">
              <a:lnSpc>
                <a:spcPts val="3219"/>
              </a:lnSpc>
              <a:spcBef>
                <a:spcPct val="0"/>
              </a:spcBef>
            </a:pPr>
            <a:r>
              <a:rPr b="1" lang="en-US" sz="2299">
                <a:solidFill>
                  <a:srgbClr val="000000"/>
                </a:solidFill>
                <a:latin typeface="Canva Sans Bold"/>
                <a:ea typeface="Canva Sans Bold"/>
                <a:cs typeface="Canva Sans Bold"/>
                <a:sym typeface="Canva Sans Bold"/>
              </a:rPr>
              <a:t> The framework plans to enhance the generalisation and dependability of yield classification and yield prediction by combining these various data sources, ultimately supporting data-driven precision agriculture and sustainable farming methods.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a:off x="17259300" y="9258300"/>
            <a:ext cx="1028700" cy="1028700"/>
            <a:chOff x="0" y="0"/>
            <a:chExt cx="812800" cy="812800"/>
          </a:xfrm>
        </p:grpSpPr>
        <p:sp>
          <p:nvSpPr>
            <p:cNvPr id="3" name="Freeform 3"/>
            <p:cNvSpPr/>
            <p:nvPr/>
          </p:nvSpPr>
          <p:spPr>
            <a:xfrm>
              <a:off x="0" y="0"/>
              <a:ext cx="812800" cy="812800"/>
            </a:xfrm>
            <a:custGeom>
              <a:avLst/>
              <a:gdLst/>
              <a:ahLst/>
              <a:cxnLst/>
              <a:rect b="b" l="l" r="r" t="t"/>
              <a:pathLst>
                <a:path h="812800" w="812800">
                  <a:moveTo>
                    <a:pt x="0" y="0"/>
                  </a:moveTo>
                  <a:lnTo>
                    <a:pt x="812800" y="0"/>
                  </a:lnTo>
                  <a:lnTo>
                    <a:pt x="812800" y="812800"/>
                  </a:lnTo>
                  <a:lnTo>
                    <a:pt x="0" y="812800"/>
                  </a:lnTo>
                  <a:close/>
                </a:path>
              </a:pathLst>
            </a:custGeom>
            <a:solidFill>
              <a:srgbClr val="D19C26"/>
            </a:solidFill>
          </p:spPr>
        </p:sp>
        <p:sp>
          <p:nvSpPr>
            <p:cNvPr id="4" name="TextBox 4"/>
            <p:cNvSpPr txBox="1"/>
            <p:nvPr/>
          </p:nvSpPr>
          <p:spPr>
            <a:xfrm>
              <a:off x="0" y="-38100"/>
              <a:ext cx="812800" cy="850900"/>
            </a:xfrm>
            <a:prstGeom prst="rect">
              <a:avLst/>
            </a:prstGeom>
          </p:spPr>
          <p:txBody>
            <a:bodyPr anchor="ctr" bIns="50800" lIns="50800" rIns="50800" rtlCol="0" tIns="50800"/>
            <a:lstStyle/>
            <a:p>
              <a:pPr algn="ctr">
                <a:lnSpc>
                  <a:spcPts val="2659"/>
                </a:lnSpc>
                <a:spcBef>
                  <a:spcPct val="0"/>
                </a:spcBef>
              </a:pPr>
              <a:endParaRPr/>
            </a:p>
          </p:txBody>
        </p:sp>
      </p:grpSp>
      <p:grpSp>
        <p:nvGrpSpPr>
          <p:cNvPr id="5" name="Group 5"/>
          <p:cNvGrpSpPr/>
          <p:nvPr/>
        </p:nvGrpSpPr>
        <p:grpSpPr>
          <a:xfrm>
            <a:off x="7931276" y="1028700"/>
            <a:ext cx="1217927" cy="47625"/>
            <a:chOff x="0" y="0"/>
            <a:chExt cx="962313" cy="37630"/>
          </a:xfrm>
        </p:grpSpPr>
        <p:sp>
          <p:nvSpPr>
            <p:cNvPr id="6" name="Freeform 6"/>
            <p:cNvSpPr/>
            <p:nvPr/>
          </p:nvSpPr>
          <p:spPr>
            <a:xfrm>
              <a:off x="0" y="0"/>
              <a:ext cx="962313" cy="37630"/>
            </a:xfrm>
            <a:custGeom>
              <a:avLst/>
              <a:gdLst/>
              <a:ahLst/>
              <a:cxnLst/>
              <a:rect b="b" l="l" r="r" t="t"/>
              <a:pathLst>
                <a:path h="37630" w="962313">
                  <a:moveTo>
                    <a:pt x="0" y="0"/>
                  </a:moveTo>
                  <a:lnTo>
                    <a:pt x="962313" y="0"/>
                  </a:lnTo>
                  <a:lnTo>
                    <a:pt x="962313" y="37630"/>
                  </a:lnTo>
                  <a:lnTo>
                    <a:pt x="0" y="37630"/>
                  </a:lnTo>
                  <a:close/>
                </a:path>
              </a:pathLst>
            </a:custGeom>
            <a:solidFill>
              <a:srgbClr val="D19C26"/>
            </a:solidFill>
            <a:ln cap="sq">
              <a:noFill/>
              <a:prstDash val="solid"/>
              <a:miter/>
            </a:ln>
          </p:spPr>
        </p:sp>
        <p:sp>
          <p:nvSpPr>
            <p:cNvPr id="7" name="TextBox 7"/>
            <p:cNvSpPr txBox="1"/>
            <p:nvPr/>
          </p:nvSpPr>
          <p:spPr>
            <a:xfrm>
              <a:off x="0" y="-38100"/>
              <a:ext cx="962313" cy="75730"/>
            </a:xfrm>
            <a:prstGeom prst="rect">
              <a:avLst/>
            </a:prstGeom>
          </p:spPr>
          <p:txBody>
            <a:bodyPr anchor="ctr" bIns="50800" lIns="50800" rIns="50800" rtlCol="0" tIns="50800"/>
            <a:lstStyle/>
            <a:p>
              <a:pPr algn="r" indent="0" lvl="0" marL="0">
                <a:lnSpc>
                  <a:spcPts val="2659"/>
                </a:lnSpc>
                <a:spcBef>
                  <a:spcPct val="0"/>
                </a:spcBef>
              </a:pPr>
              <a:endParaRPr/>
            </a:p>
          </p:txBody>
        </p:sp>
      </p:grpSp>
      <p:sp>
        <p:nvSpPr>
          <p:cNvPr id="8" name="Freeform 8"/>
          <p:cNvSpPr/>
          <p:nvPr/>
        </p:nvSpPr>
        <p:spPr>
          <a:xfrm>
            <a:off x="8627171" y="3014464"/>
            <a:ext cx="9506976" cy="5704186"/>
          </a:xfrm>
          <a:custGeom>
            <a:avLst/>
            <a:gdLst/>
            <a:ahLst/>
            <a:cxnLst/>
            <a:rect b="b" l="l" r="r" t="t"/>
            <a:pathLst>
              <a:path h="5704186" w="9506976">
                <a:moveTo>
                  <a:pt x="0" y="0"/>
                </a:moveTo>
                <a:lnTo>
                  <a:pt x="9506976" y="0"/>
                </a:lnTo>
                <a:lnTo>
                  <a:pt x="9506976" y="5704186"/>
                </a:lnTo>
                <a:lnTo>
                  <a:pt x="0" y="5704186"/>
                </a:lnTo>
                <a:lnTo>
                  <a:pt x="0" y="0"/>
                </a:lnTo>
                <a:close/>
              </a:path>
            </a:pathLst>
          </a:custGeom>
          <a:blipFill>
            <a:blip r:embed="rId2"/>
            <a:stretch>
              <a:fillRect/>
            </a:stretch>
          </a:blipFill>
        </p:spPr>
      </p:sp>
      <p:sp>
        <p:nvSpPr>
          <p:cNvPr id="9" name="TextBox 9"/>
          <p:cNvSpPr txBox="1"/>
          <p:nvPr/>
        </p:nvSpPr>
        <p:spPr>
          <a:xfrm>
            <a:off x="17413153" y="9638067"/>
            <a:ext cx="720994" cy="240591"/>
          </a:xfrm>
          <a:prstGeom prst="rect">
            <a:avLst/>
          </a:prstGeom>
        </p:spPr>
        <p:txBody>
          <a:bodyPr anchor="t" bIns="0" lIns="0" rIns="0" rtlCol="0" tIns="0">
            <a:spAutoFit/>
          </a:bodyPr>
          <a:lstStyle/>
          <a:p>
            <a:pPr algn="ctr">
              <a:lnSpc>
                <a:spcPts val="1960"/>
              </a:lnSpc>
              <a:spcBef>
                <a:spcPct val="0"/>
              </a:spcBef>
            </a:pPr>
            <a:r>
              <a:rPr b="1" lang="en-US" sz="1400">
                <a:solidFill>
                  <a:srgbClr val="FFFFFF"/>
                </a:solidFill>
                <a:latin typeface="Open Sans Bold"/>
                <a:ea typeface="Open Sans Bold"/>
                <a:cs typeface="Open Sans Bold"/>
                <a:sym typeface="Open Sans Bold"/>
              </a:rPr>
              <a:t>04</a:t>
            </a:r>
          </a:p>
        </p:txBody>
      </p:sp>
      <p:sp>
        <p:nvSpPr>
          <p:cNvPr id="10" name="TextBox 10"/>
          <p:cNvSpPr txBox="1"/>
          <p:nvPr/>
        </p:nvSpPr>
        <p:spPr>
          <a:xfrm>
            <a:off x="0" y="1643231"/>
            <a:ext cx="8749605" cy="6323965"/>
          </a:xfrm>
          <a:prstGeom prst="rect">
            <a:avLst/>
          </a:prstGeom>
        </p:spPr>
        <p:txBody>
          <a:bodyPr anchor="t" bIns="0" lIns="0" rIns="0" rtlCol="0" tIns="0">
            <a:spAutoFit/>
          </a:bodyPr>
          <a:lstStyle/>
          <a:p>
            <a:pPr algn="ctr">
              <a:lnSpc>
                <a:spcPts val="2659"/>
              </a:lnSpc>
              <a:spcBef>
                <a:spcPct val="0"/>
              </a:spcBef>
            </a:pPr>
            <a:r>
              <a:rPr b="1" lang="en-US" sz="1899">
                <a:solidFill>
                  <a:srgbClr val="000000"/>
                </a:solidFill>
                <a:latin typeface="Canva Sans Bold"/>
                <a:ea typeface="Canva Sans Bold"/>
                <a:cs typeface="Canva Sans Bold"/>
                <a:sym typeface="Canva Sans Bold"/>
              </a:rPr>
              <a:t>Area wise environmental and agronomic variables are included in the Crop Yield Prediction Dataset (yield.csv) from Kaggle.</a:t>
            </a:r>
          </a:p>
          <a:p>
            <a:pPr algn="ctr">
              <a:lnSpc>
                <a:spcPts val="2659"/>
              </a:lnSpc>
              <a:spcBef>
                <a:spcPct val="0"/>
              </a:spcBef>
            </a:pPr>
            <a:r>
              <a:rPr b="1" lang="en-US" sz="1899">
                <a:solidFill>
                  <a:srgbClr val="000000"/>
                </a:solidFill>
                <a:latin typeface="Canva Sans Bold"/>
                <a:ea typeface="Canva Sans Bold"/>
                <a:cs typeface="Canva Sans Bold"/>
                <a:sym typeface="Canva Sans Bold"/>
              </a:rPr>
              <a:t> Important characteristics include:</a:t>
            </a:r>
          </a:p>
          <a:p>
            <a:pPr algn="ctr">
              <a:lnSpc>
                <a:spcPts val="2659"/>
              </a:lnSpc>
              <a:spcBef>
                <a:spcPct val="0"/>
              </a:spcBef>
            </a:pPr>
            <a:endParaRPr b="1" lang="en-US" sz="1899">
              <a:solidFill>
                <a:srgbClr val="000000"/>
              </a:solidFill>
              <a:latin typeface="Canva Sans Bold"/>
              <a:ea typeface="Canva Sans Bold"/>
              <a:cs typeface="Canva Sans Bold"/>
              <a:sym typeface="Canva Sans Bold"/>
            </a:endParaRPr>
          </a:p>
          <a:p>
            <a:pPr algn="ctr">
              <a:lnSpc>
                <a:spcPts val="2659"/>
              </a:lnSpc>
              <a:spcBef>
                <a:spcPct val="0"/>
              </a:spcBef>
            </a:pPr>
            <a:r>
              <a:rPr b="1" lang="en-US" sz="1899">
                <a:solidFill>
                  <a:srgbClr val="000000"/>
                </a:solidFill>
                <a:latin typeface="Canva Sans Bold"/>
                <a:ea typeface="Canva Sans Bold"/>
                <a:cs typeface="Canva Sans Bold"/>
                <a:sym typeface="Canva Sans Bold"/>
              </a:rPr>
              <a:t> Weather characteristics: precipitation, humidity, and temperature</a:t>
            </a:r>
          </a:p>
          <a:p>
            <a:pPr algn="ctr">
              <a:lnSpc>
                <a:spcPts val="2659"/>
              </a:lnSpc>
              <a:spcBef>
                <a:spcPct val="0"/>
              </a:spcBef>
            </a:pPr>
            <a:endParaRPr b="1" lang="en-US" sz="1899">
              <a:solidFill>
                <a:srgbClr val="000000"/>
              </a:solidFill>
              <a:latin typeface="Canva Sans Bold"/>
              <a:ea typeface="Canva Sans Bold"/>
              <a:cs typeface="Canva Sans Bold"/>
              <a:sym typeface="Canva Sans Bold"/>
            </a:endParaRPr>
          </a:p>
          <a:p>
            <a:pPr algn="ctr">
              <a:lnSpc>
                <a:spcPts val="2659"/>
              </a:lnSpc>
              <a:spcBef>
                <a:spcPct val="0"/>
              </a:spcBef>
            </a:pPr>
            <a:r>
              <a:rPr b="1" lang="en-US" sz="1899">
                <a:solidFill>
                  <a:srgbClr val="000000"/>
                </a:solidFill>
                <a:latin typeface="Canva Sans Bold"/>
                <a:ea typeface="Canva Sans Bold"/>
                <a:cs typeface="Canva Sans Bold"/>
                <a:sym typeface="Canva Sans Bold"/>
              </a:rPr>
              <a:t> Features of the soil: pH, moisture content</a:t>
            </a:r>
          </a:p>
          <a:p>
            <a:pPr algn="ctr">
              <a:lnSpc>
                <a:spcPts val="2659"/>
              </a:lnSpc>
              <a:spcBef>
                <a:spcPct val="0"/>
              </a:spcBef>
            </a:pPr>
            <a:endParaRPr b="1" lang="en-US" sz="1899">
              <a:solidFill>
                <a:srgbClr val="000000"/>
              </a:solidFill>
              <a:latin typeface="Canva Sans Bold"/>
              <a:ea typeface="Canva Sans Bold"/>
              <a:cs typeface="Canva Sans Bold"/>
              <a:sym typeface="Canva Sans Bold"/>
            </a:endParaRPr>
          </a:p>
          <a:p>
            <a:pPr algn="ctr">
              <a:lnSpc>
                <a:spcPts val="2659"/>
              </a:lnSpc>
              <a:spcBef>
                <a:spcPct val="0"/>
              </a:spcBef>
            </a:pPr>
            <a:r>
              <a:rPr b="1" lang="en-US" sz="1899">
                <a:solidFill>
                  <a:srgbClr val="000000"/>
                </a:solidFill>
                <a:latin typeface="Canva Sans Bold"/>
                <a:ea typeface="Canva Sans Bold"/>
                <a:cs typeface="Canva Sans Bold"/>
                <a:sym typeface="Canva Sans Bold"/>
              </a:rPr>
              <a:t> Features of the satellite: Normalised Difference Vegetation Index (NDVI)</a:t>
            </a:r>
          </a:p>
          <a:p>
            <a:pPr algn="ctr">
              <a:lnSpc>
                <a:spcPts val="2659"/>
              </a:lnSpc>
              <a:spcBef>
                <a:spcPct val="0"/>
              </a:spcBef>
            </a:pPr>
            <a:endParaRPr b="1" lang="en-US" sz="1899">
              <a:solidFill>
                <a:srgbClr val="000000"/>
              </a:solidFill>
              <a:latin typeface="Canva Sans Bold"/>
              <a:ea typeface="Canva Sans Bold"/>
              <a:cs typeface="Canva Sans Bold"/>
              <a:sym typeface="Canva Sans Bold"/>
            </a:endParaRPr>
          </a:p>
          <a:p>
            <a:pPr algn="ctr">
              <a:lnSpc>
                <a:spcPts val="2659"/>
              </a:lnSpc>
              <a:spcBef>
                <a:spcPct val="0"/>
              </a:spcBef>
            </a:pPr>
            <a:r>
              <a:rPr b="1" lang="en-US" sz="1899">
                <a:solidFill>
                  <a:srgbClr val="000000"/>
                </a:solidFill>
                <a:latin typeface="Canva Sans Bold"/>
                <a:ea typeface="Canva Sans Bold"/>
                <a:cs typeface="Canva Sans Bold"/>
                <a:sym typeface="Canva Sans Bold"/>
              </a:rPr>
              <a:t> Crop feature: crop type or category</a:t>
            </a:r>
          </a:p>
          <a:p>
            <a:pPr algn="ctr">
              <a:lnSpc>
                <a:spcPts val="2659"/>
              </a:lnSpc>
              <a:spcBef>
                <a:spcPct val="0"/>
              </a:spcBef>
            </a:pPr>
            <a:endParaRPr b="1" lang="en-US" sz="1899">
              <a:solidFill>
                <a:srgbClr val="000000"/>
              </a:solidFill>
              <a:latin typeface="Canva Sans Bold"/>
              <a:ea typeface="Canva Sans Bold"/>
              <a:cs typeface="Canva Sans Bold"/>
              <a:sym typeface="Canva Sans Bold"/>
            </a:endParaRPr>
          </a:p>
          <a:p>
            <a:pPr algn="ctr">
              <a:lnSpc>
                <a:spcPts val="2659"/>
              </a:lnSpc>
              <a:spcBef>
                <a:spcPct val="0"/>
              </a:spcBef>
            </a:pPr>
            <a:r>
              <a:rPr b="1" lang="en-US" sz="1899">
                <a:solidFill>
                  <a:srgbClr val="000000"/>
                </a:solidFill>
                <a:latin typeface="Canva Sans Bold"/>
                <a:ea typeface="Canva Sans Bold"/>
                <a:cs typeface="Canva Sans Bold"/>
                <a:sym typeface="Canva Sans Bold"/>
              </a:rPr>
              <a:t> The variables of interest are yield class (classification) and crop yield (regression).</a:t>
            </a:r>
          </a:p>
          <a:p>
            <a:pPr algn="ctr">
              <a:lnSpc>
                <a:spcPts val="2659"/>
              </a:lnSpc>
              <a:spcBef>
                <a:spcPct val="0"/>
              </a:spcBef>
            </a:pPr>
            <a:endParaRPr b="1" lang="en-US" sz="1899">
              <a:solidFill>
                <a:srgbClr val="000000"/>
              </a:solidFill>
              <a:latin typeface="Canva Sans Bold"/>
              <a:ea typeface="Canva Sans Bold"/>
              <a:cs typeface="Canva Sans Bold"/>
              <a:sym typeface="Canva Sans Bold"/>
            </a:endParaRPr>
          </a:p>
          <a:p>
            <a:pPr algn="ctr">
              <a:lnSpc>
                <a:spcPts val="2659"/>
              </a:lnSpc>
              <a:spcBef>
                <a:spcPct val="0"/>
              </a:spcBef>
            </a:pPr>
            <a:r>
              <a:rPr b="1" lang="en-US" sz="1899">
                <a:solidFill>
                  <a:srgbClr val="000000"/>
                </a:solidFill>
                <a:latin typeface="Canva Sans Bold"/>
                <a:ea typeface="Canva Sans Bold"/>
                <a:cs typeface="Canva Sans Bold"/>
                <a:sym typeface="Canva Sans Bold"/>
              </a:rPr>
              <a:t> StandardScaler was used to normalise all features, and one-hot encoding was used for categorical variables (crop type).</a:t>
            </a:r>
          </a:p>
          <a:p>
            <a:pPr algn="ctr">
              <a:lnSpc>
                <a:spcPts val="2659"/>
              </a:lnSpc>
              <a:spcBef>
                <a:spcPct val="0"/>
              </a:spcBef>
            </a:pPr>
            <a:r>
              <a:rPr b="1" lang="en-US" sz="1899">
                <a:solidFill>
                  <a:srgbClr val="000000"/>
                </a:solidFill>
                <a:latin typeface="Canva Sans Bold"/>
                <a:ea typeface="Canva Sans Bold"/>
                <a:cs typeface="Canva Sans Bold"/>
                <a:sym typeface="Canva Sans Bold"/>
              </a:rPr>
              <a:t> Using stratified sampling, the dataset was divided into 80% training and 20% testing.</a:t>
            </a:r>
          </a:p>
        </p:txBody>
      </p:sp>
      <p:sp>
        <p:nvSpPr>
          <p:cNvPr id="11" name="TextBox 11"/>
          <p:cNvSpPr txBox="1"/>
          <p:nvPr/>
        </p:nvSpPr>
        <p:spPr>
          <a:xfrm>
            <a:off x="5590195" y="282829"/>
            <a:ext cx="6318820" cy="745871"/>
          </a:xfrm>
          <a:prstGeom prst="rect">
            <a:avLst/>
          </a:prstGeom>
        </p:spPr>
        <p:txBody>
          <a:bodyPr anchor="t" bIns="0" lIns="0" rIns="0" rtlCol="0" tIns="0">
            <a:spAutoFit/>
          </a:bodyPr>
          <a:lstStyle/>
          <a:p>
            <a:pPr algn="ctr" indent="0" lvl="0" marL="0">
              <a:lnSpc>
                <a:spcPts val="5632"/>
              </a:lnSpc>
              <a:spcBef>
                <a:spcPct val="0"/>
              </a:spcBef>
            </a:pPr>
            <a:r>
              <a:rPr b="1" lang="en-US" sz="4400">
                <a:solidFill>
                  <a:srgbClr val="1F2020"/>
                </a:solidFill>
                <a:latin typeface="Poppins Bold"/>
                <a:ea typeface="Poppins Bold"/>
                <a:cs typeface="Poppins Bold"/>
                <a:sym typeface="Poppins Bold"/>
              </a:rPr>
              <a:t>About Dataset</a:t>
            </a:r>
          </a:p>
        </p:txBody>
      </p:sp>
      <p:grpSp>
        <p:nvGrpSpPr>
          <p:cNvPr id="12" name="Group 12"/>
          <p:cNvGrpSpPr/>
          <p:nvPr/>
        </p:nvGrpSpPr>
        <p:grpSpPr>
          <a:xfrm>
            <a:off x="0" y="0"/>
            <a:ext cx="18288000" cy="10287000"/>
            <a:chOff x="0" y="0"/>
            <a:chExt cx="24384000" cy="13716000"/>
          </a:xfrm>
        </p:grpSpPr>
        <p:pic>
          <p:nvPicPr>
            <p:cNvPr id="13" name="Picture 13"/>
            <p:cNvPicPr>
              <a:picLocks noChangeAspect="1"/>
            </p:cNvPicPr>
            <p:nvPr/>
          </p:nvPicPr>
          <p:blipFill>
            <a:blip r:embed="rId3">
              <a:alphaModFix amt="6999"/>
            </a:blip>
            <a:srcRect b="66" l="16" t="66"/>
            <a:stretch>
              <a:fillRect/>
            </a:stretch>
          </p:blipFill>
          <p:spPr>
            <a:xfrm>
              <a:off x="0" y="0"/>
              <a:ext cx="24384000" cy="13716000"/>
            </a:xfrm>
            <a:prstGeom prst="rect">
              <a:avLst/>
            </a:prstGeom>
          </p:spPr>
        </p:pic>
      </p:grpSp>
      <p:grpSp>
        <p:nvGrpSpPr>
          <p:cNvPr id="14" name="Group 14"/>
          <p:cNvGrpSpPr/>
          <p:nvPr/>
        </p:nvGrpSpPr>
        <p:grpSpPr>
          <a:xfrm>
            <a:off x="0" y="0"/>
            <a:ext cx="18288000" cy="10287000"/>
            <a:chOff x="0" y="0"/>
            <a:chExt cx="24384000" cy="13716000"/>
          </a:xfrm>
        </p:grpSpPr>
        <p:pic>
          <p:nvPicPr>
            <p:cNvPr id="15" name="Picture 15"/>
            <p:cNvPicPr>
              <a:picLocks noChangeAspect="1"/>
            </p:cNvPicPr>
            <p:nvPr/>
          </p:nvPicPr>
          <p:blipFill>
            <a:blip r:embed="rId4">
              <a:alphaModFix amt="13000"/>
            </a:blip>
            <a:srcRect b="50" t="50"/>
            <a:stretch>
              <a:fillRect/>
            </a:stretch>
          </p:blipFill>
          <p:spPr>
            <a:xfrm>
              <a:off x="0" y="0"/>
              <a:ext cx="24384000" cy="13716000"/>
            </a:xfrm>
            <a:prstGeom prst="rect">
              <a:avLst/>
            </a:prstGeom>
          </p:spPr>
        </p:pic>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a:off x="17293116" y="657737"/>
            <a:ext cx="397367" cy="28996"/>
            <a:chOff x="0" y="0"/>
            <a:chExt cx="128243" cy="9358"/>
          </a:xfrm>
        </p:grpSpPr>
        <p:sp>
          <p:nvSpPr>
            <p:cNvPr id="3" name="Freeform 3"/>
            <p:cNvSpPr/>
            <p:nvPr/>
          </p:nvSpPr>
          <p:spPr>
            <a:xfrm>
              <a:off x="0" y="0"/>
              <a:ext cx="128243" cy="9358"/>
            </a:xfrm>
            <a:custGeom>
              <a:avLst/>
              <a:gdLst/>
              <a:ahLst/>
              <a:cxnLst/>
              <a:rect b="b" l="l" r="r" t="t"/>
              <a:pathLst>
                <a:path h="9358" w="128243">
                  <a:moveTo>
                    <a:pt x="0" y="0"/>
                  </a:moveTo>
                  <a:lnTo>
                    <a:pt x="128243" y="0"/>
                  </a:lnTo>
                  <a:lnTo>
                    <a:pt x="128243" y="9358"/>
                  </a:lnTo>
                  <a:lnTo>
                    <a:pt x="0" y="9358"/>
                  </a:lnTo>
                  <a:close/>
                </a:path>
              </a:pathLst>
            </a:custGeom>
            <a:solidFill>
              <a:srgbClr val="D19C26"/>
            </a:solidFill>
          </p:spPr>
        </p:sp>
        <p:sp>
          <p:nvSpPr>
            <p:cNvPr id="4" name="TextBox 4"/>
            <p:cNvSpPr txBox="1"/>
            <p:nvPr/>
          </p:nvSpPr>
          <p:spPr>
            <a:xfrm>
              <a:off x="0" y="-38100"/>
              <a:ext cx="128243" cy="47458"/>
            </a:xfrm>
            <a:prstGeom prst="rect">
              <a:avLst/>
            </a:prstGeom>
          </p:spPr>
          <p:txBody>
            <a:bodyPr anchor="ctr" bIns="50800" lIns="50800" rIns="50800" rtlCol="0" tIns="50800"/>
            <a:lstStyle/>
            <a:p>
              <a:pPr algn="ctr">
                <a:lnSpc>
                  <a:spcPts val="2659"/>
                </a:lnSpc>
                <a:spcBef>
                  <a:spcPct val="0"/>
                </a:spcBef>
              </a:pPr>
              <a:endParaRPr/>
            </a:p>
          </p:txBody>
        </p:sp>
      </p:grpSp>
      <p:grpSp>
        <p:nvGrpSpPr>
          <p:cNvPr id="5" name="Group 5"/>
          <p:cNvGrpSpPr/>
          <p:nvPr/>
        </p:nvGrpSpPr>
        <p:grpSpPr>
          <a:xfrm>
            <a:off x="17259300" y="9258300"/>
            <a:ext cx="1028700" cy="1028700"/>
            <a:chOff x="0" y="0"/>
            <a:chExt cx="812800" cy="812800"/>
          </a:xfrm>
        </p:grpSpPr>
        <p:sp>
          <p:nvSpPr>
            <p:cNvPr id="6" name="Freeform 6"/>
            <p:cNvSpPr/>
            <p:nvPr/>
          </p:nvSpPr>
          <p:spPr>
            <a:xfrm>
              <a:off x="0" y="0"/>
              <a:ext cx="812800" cy="812800"/>
            </a:xfrm>
            <a:custGeom>
              <a:avLst/>
              <a:gdLst/>
              <a:ahLst/>
              <a:cxnLst/>
              <a:rect b="b" l="l" r="r" t="t"/>
              <a:pathLst>
                <a:path h="812800" w="812800">
                  <a:moveTo>
                    <a:pt x="0" y="0"/>
                  </a:moveTo>
                  <a:lnTo>
                    <a:pt x="812800" y="0"/>
                  </a:lnTo>
                  <a:lnTo>
                    <a:pt x="812800" y="812800"/>
                  </a:lnTo>
                  <a:lnTo>
                    <a:pt x="0" y="812800"/>
                  </a:lnTo>
                  <a:close/>
                </a:path>
              </a:pathLst>
            </a:custGeom>
            <a:solidFill>
              <a:srgbClr val="D19C26"/>
            </a:solidFill>
          </p:spPr>
        </p:sp>
        <p:sp>
          <p:nvSpPr>
            <p:cNvPr id="7" name="TextBox 7"/>
            <p:cNvSpPr txBox="1"/>
            <p:nvPr/>
          </p:nvSpPr>
          <p:spPr>
            <a:xfrm>
              <a:off x="0" y="-38100"/>
              <a:ext cx="812800" cy="850900"/>
            </a:xfrm>
            <a:prstGeom prst="rect">
              <a:avLst/>
            </a:prstGeom>
          </p:spPr>
          <p:txBody>
            <a:bodyPr anchor="ctr" bIns="50800" lIns="50800" rIns="50800" rtlCol="0" tIns="50800"/>
            <a:lstStyle/>
            <a:p>
              <a:pPr algn="ctr">
                <a:lnSpc>
                  <a:spcPts val="2659"/>
                </a:lnSpc>
                <a:spcBef>
                  <a:spcPct val="0"/>
                </a:spcBef>
              </a:pPr>
              <a:endParaRPr/>
            </a:p>
          </p:txBody>
        </p:sp>
      </p:grpSp>
      <p:sp>
        <p:nvSpPr>
          <p:cNvPr id="8" name="TextBox 8"/>
          <p:cNvSpPr txBox="1"/>
          <p:nvPr/>
        </p:nvSpPr>
        <p:spPr>
          <a:xfrm>
            <a:off x="17413153" y="9638067"/>
            <a:ext cx="720994" cy="240591"/>
          </a:xfrm>
          <a:prstGeom prst="rect">
            <a:avLst/>
          </a:prstGeom>
        </p:spPr>
        <p:txBody>
          <a:bodyPr anchor="t" bIns="0" lIns="0" rIns="0" rtlCol="0" tIns="0">
            <a:spAutoFit/>
          </a:bodyPr>
          <a:lstStyle/>
          <a:p>
            <a:pPr algn="ctr">
              <a:lnSpc>
                <a:spcPts val="1960"/>
              </a:lnSpc>
              <a:spcBef>
                <a:spcPct val="0"/>
              </a:spcBef>
            </a:pPr>
            <a:r>
              <a:rPr b="1" lang="en-US" sz="1400">
                <a:solidFill>
                  <a:srgbClr val="FFFFFF"/>
                </a:solidFill>
                <a:latin typeface="Open Sans Bold"/>
                <a:ea typeface="Open Sans Bold"/>
                <a:cs typeface="Open Sans Bold"/>
                <a:sym typeface="Open Sans Bold"/>
              </a:rPr>
              <a:t>05</a:t>
            </a:r>
          </a:p>
        </p:txBody>
      </p:sp>
      <p:grpSp>
        <p:nvGrpSpPr>
          <p:cNvPr id="9" name="Group 9"/>
          <p:cNvGrpSpPr/>
          <p:nvPr/>
        </p:nvGrpSpPr>
        <p:grpSpPr>
          <a:xfrm>
            <a:off x="0" y="0"/>
            <a:ext cx="18288000" cy="10287000"/>
            <a:chOff x="0" y="0"/>
            <a:chExt cx="24384000" cy="13716000"/>
          </a:xfrm>
        </p:grpSpPr>
        <p:pic>
          <p:nvPicPr>
            <p:cNvPr id="10" name="Picture 10"/>
            <p:cNvPicPr>
              <a:picLocks noChangeAspect="1"/>
            </p:cNvPicPr>
            <p:nvPr/>
          </p:nvPicPr>
          <p:blipFill>
            <a:blip r:embed="rId2">
              <a:alphaModFix amt="21999"/>
            </a:blip>
            <a:srcRect b="39" l="34" t="38"/>
            <a:stretch>
              <a:fillRect/>
            </a:stretch>
          </p:blipFill>
          <p:spPr>
            <a:xfrm>
              <a:off x="0" y="0"/>
              <a:ext cx="24384000" cy="13716000"/>
            </a:xfrm>
            <a:prstGeom prst="rect">
              <a:avLst/>
            </a:prstGeom>
          </p:spPr>
        </p:pic>
      </p:grpSp>
      <p:sp>
        <p:nvSpPr>
          <p:cNvPr id="11" name="TextBox 11"/>
          <p:cNvSpPr txBox="1"/>
          <p:nvPr/>
        </p:nvSpPr>
        <p:spPr>
          <a:xfrm>
            <a:off x="6920866" y="617665"/>
            <a:ext cx="3668372" cy="745871"/>
          </a:xfrm>
          <a:prstGeom prst="rect">
            <a:avLst/>
          </a:prstGeom>
        </p:spPr>
        <p:txBody>
          <a:bodyPr anchor="t" bIns="0" lIns="0" rIns="0" rtlCol="0" tIns="0">
            <a:spAutoFit/>
          </a:bodyPr>
          <a:lstStyle/>
          <a:p>
            <a:pPr algn="l">
              <a:lnSpc>
                <a:spcPts val="5632"/>
              </a:lnSpc>
            </a:pPr>
            <a:r>
              <a:rPr b="1" lang="en-US" sz="4400">
                <a:solidFill>
                  <a:srgbClr val="1F2020"/>
                </a:solidFill>
                <a:latin typeface="Poppins Bold"/>
                <a:ea typeface="Poppins Bold"/>
                <a:cs typeface="Poppins Bold"/>
                <a:sym typeface="Poppins Bold"/>
              </a:rPr>
              <a:t>Objectives</a:t>
            </a:r>
          </a:p>
        </p:txBody>
      </p:sp>
      <p:grpSp>
        <p:nvGrpSpPr>
          <p:cNvPr id="12" name="Group 12"/>
          <p:cNvGrpSpPr/>
          <p:nvPr/>
        </p:nvGrpSpPr>
        <p:grpSpPr>
          <a:xfrm>
            <a:off x="7849146" y="1363535"/>
            <a:ext cx="1217927" cy="47625"/>
            <a:chOff x="0" y="0"/>
            <a:chExt cx="962313" cy="37630"/>
          </a:xfrm>
        </p:grpSpPr>
        <p:sp>
          <p:nvSpPr>
            <p:cNvPr id="13" name="Freeform 13"/>
            <p:cNvSpPr/>
            <p:nvPr/>
          </p:nvSpPr>
          <p:spPr>
            <a:xfrm>
              <a:off x="0" y="0"/>
              <a:ext cx="962313" cy="37630"/>
            </a:xfrm>
            <a:custGeom>
              <a:avLst/>
              <a:gdLst/>
              <a:ahLst/>
              <a:cxnLst/>
              <a:rect b="b" l="l" r="r" t="t"/>
              <a:pathLst>
                <a:path h="37630" w="962313">
                  <a:moveTo>
                    <a:pt x="0" y="0"/>
                  </a:moveTo>
                  <a:lnTo>
                    <a:pt x="962313" y="0"/>
                  </a:lnTo>
                  <a:lnTo>
                    <a:pt x="962313" y="37630"/>
                  </a:lnTo>
                  <a:lnTo>
                    <a:pt x="0" y="37630"/>
                  </a:lnTo>
                  <a:close/>
                </a:path>
              </a:pathLst>
            </a:custGeom>
            <a:solidFill>
              <a:srgbClr val="D19C26"/>
            </a:solidFill>
          </p:spPr>
        </p:sp>
        <p:sp>
          <p:nvSpPr>
            <p:cNvPr id="14" name="TextBox 14"/>
            <p:cNvSpPr txBox="1"/>
            <p:nvPr/>
          </p:nvSpPr>
          <p:spPr>
            <a:xfrm>
              <a:off x="0" y="-38100"/>
              <a:ext cx="962313" cy="75730"/>
            </a:xfrm>
            <a:prstGeom prst="rect">
              <a:avLst/>
            </a:prstGeom>
          </p:spPr>
          <p:txBody>
            <a:bodyPr anchor="ctr" bIns="50800" lIns="50800" rIns="50800" rtlCol="0" tIns="50800"/>
            <a:lstStyle/>
            <a:p>
              <a:pPr algn="ctr">
                <a:lnSpc>
                  <a:spcPts val="2659"/>
                </a:lnSpc>
                <a:spcBef>
                  <a:spcPct val="0"/>
                </a:spcBef>
              </a:pPr>
              <a:endParaRPr/>
            </a:p>
          </p:txBody>
        </p:sp>
      </p:grpSp>
      <p:sp>
        <p:nvSpPr>
          <p:cNvPr id="15" name="TextBox 15"/>
          <p:cNvSpPr txBox="1"/>
          <p:nvPr/>
        </p:nvSpPr>
        <p:spPr>
          <a:xfrm>
            <a:off x="0" y="2399125"/>
            <a:ext cx="18288000" cy="5804536"/>
          </a:xfrm>
          <a:prstGeom prst="rect">
            <a:avLst/>
          </a:prstGeom>
        </p:spPr>
        <p:txBody>
          <a:bodyPr anchor="t" bIns="0" lIns="0" rIns="0" rtlCol="0" tIns="0">
            <a:spAutoFit/>
          </a:bodyPr>
          <a:lstStyle/>
          <a:p>
            <a:pPr algn="ctr">
              <a:lnSpc>
                <a:spcPts val="5039"/>
              </a:lnSpc>
              <a:spcBef>
                <a:spcPct val="0"/>
              </a:spcBef>
            </a:pPr>
            <a:r>
              <a:rPr b="1" lang="en-US" sz="3599">
                <a:solidFill>
                  <a:srgbClr val="000000"/>
                </a:solidFill>
                <a:latin typeface="Canva Sans Bold"/>
                <a:ea typeface="Canva Sans Bold"/>
                <a:cs typeface="Canva Sans Bold"/>
                <a:sym typeface="Canva Sans Bold"/>
              </a:rPr>
              <a:t>Develop a multi-branch deep neural network that integrates image and tabular inputs (weather, soil, satellite indices, crop type).</a:t>
            </a:r>
          </a:p>
          <a:p>
            <a:pPr algn="ctr">
              <a:lnSpc>
                <a:spcPts val="5319"/>
              </a:lnSpc>
              <a:spcBef>
                <a:spcPct val="0"/>
              </a:spcBef>
            </a:pPr>
            <a:r>
              <a:rPr b="1" lang="en-US" sz="3799">
                <a:solidFill>
                  <a:srgbClr val="000000"/>
                </a:solidFill>
                <a:latin typeface="Canva Sans Bold"/>
                <a:ea typeface="Canva Sans Bold"/>
                <a:cs typeface="Canva Sans Bold"/>
                <a:sym typeface="Canva Sans Bold"/>
              </a:rPr>
              <a:t>Implement advanced modules such as Dense-Inception blocks, Spatial Pyramid Pooling, and Attention mechanisms for multi-scale feature extraction.</a:t>
            </a:r>
          </a:p>
          <a:p>
            <a:pPr algn="ctr">
              <a:lnSpc>
                <a:spcPts val="5039"/>
              </a:lnSpc>
              <a:spcBef>
                <a:spcPct val="0"/>
              </a:spcBef>
            </a:pPr>
            <a:r>
              <a:rPr b="1" lang="en-US" sz="3599">
                <a:solidFill>
                  <a:srgbClr val="000000"/>
                </a:solidFill>
                <a:latin typeface="Canva Sans Bold"/>
                <a:ea typeface="Canva Sans Bold"/>
                <a:cs typeface="Canva Sans Bold"/>
                <a:sym typeface="Canva Sans Bold"/>
              </a:rPr>
              <a:t>Evaluate the model against traditional baselines (Random Forest, SVM) using metrics such as Accuracy, Precision, Recall, and F1-score.</a:t>
            </a:r>
          </a:p>
          <a:p>
            <a:pPr algn="ctr">
              <a:lnSpc>
                <a:spcPts val="5039"/>
              </a:lnSpc>
              <a:spcBef>
                <a:spcPct val="0"/>
              </a:spcBef>
            </a:pPr>
            <a:r>
              <a:rPr b="1" lang="en-US" sz="3599">
                <a:solidFill>
                  <a:srgbClr val="000000"/>
                </a:solidFill>
                <a:latin typeface="Canva Sans Bold"/>
                <a:ea typeface="Canva Sans Bold"/>
                <a:cs typeface="Canva Sans Bold"/>
                <a:sym typeface="Canva Sans Bold"/>
              </a:rPr>
              <a:t>Achieve stable and reproducible performance close to the original ADLF research benchmark (80–90% accuracy).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a:off x="17259300" y="9258300"/>
            <a:ext cx="1028700" cy="1028700"/>
            <a:chOff x="0" y="0"/>
            <a:chExt cx="812800" cy="812800"/>
          </a:xfrm>
        </p:grpSpPr>
        <p:sp>
          <p:nvSpPr>
            <p:cNvPr id="3" name="Freeform 3"/>
            <p:cNvSpPr/>
            <p:nvPr/>
          </p:nvSpPr>
          <p:spPr>
            <a:xfrm>
              <a:off x="0" y="0"/>
              <a:ext cx="812800" cy="812800"/>
            </a:xfrm>
            <a:custGeom>
              <a:avLst/>
              <a:gdLst/>
              <a:ahLst/>
              <a:cxnLst/>
              <a:rect b="b" l="l" r="r" t="t"/>
              <a:pathLst>
                <a:path h="812800" w="812800">
                  <a:moveTo>
                    <a:pt x="0" y="0"/>
                  </a:moveTo>
                  <a:lnTo>
                    <a:pt x="812800" y="0"/>
                  </a:lnTo>
                  <a:lnTo>
                    <a:pt x="812800" y="812800"/>
                  </a:lnTo>
                  <a:lnTo>
                    <a:pt x="0" y="812800"/>
                  </a:lnTo>
                  <a:close/>
                </a:path>
              </a:pathLst>
            </a:custGeom>
            <a:solidFill>
              <a:srgbClr val="D19C26"/>
            </a:solidFill>
          </p:spPr>
        </p:sp>
        <p:sp>
          <p:nvSpPr>
            <p:cNvPr id="4" name="TextBox 4"/>
            <p:cNvSpPr txBox="1"/>
            <p:nvPr/>
          </p:nvSpPr>
          <p:spPr>
            <a:xfrm>
              <a:off x="0" y="-38100"/>
              <a:ext cx="812800" cy="850900"/>
            </a:xfrm>
            <a:prstGeom prst="rect">
              <a:avLst/>
            </a:prstGeom>
          </p:spPr>
          <p:txBody>
            <a:bodyPr anchor="ctr" bIns="50800" lIns="50800" rIns="50800" rtlCol="0" tIns="50800"/>
            <a:lstStyle/>
            <a:p>
              <a:pPr algn="ctr">
                <a:lnSpc>
                  <a:spcPts val="2659"/>
                </a:lnSpc>
                <a:spcBef>
                  <a:spcPct val="0"/>
                </a:spcBef>
              </a:pPr>
              <a:endParaRPr/>
            </a:p>
          </p:txBody>
        </p:sp>
      </p:grpSp>
      <p:sp>
        <p:nvSpPr>
          <p:cNvPr id="5" name="TextBox 5"/>
          <p:cNvSpPr txBox="1"/>
          <p:nvPr/>
        </p:nvSpPr>
        <p:spPr>
          <a:xfrm>
            <a:off x="17413153" y="9638067"/>
            <a:ext cx="720994" cy="240591"/>
          </a:xfrm>
          <a:prstGeom prst="rect">
            <a:avLst/>
          </a:prstGeom>
        </p:spPr>
        <p:txBody>
          <a:bodyPr anchor="t" bIns="0" lIns="0" rIns="0" rtlCol="0" tIns="0">
            <a:spAutoFit/>
          </a:bodyPr>
          <a:lstStyle/>
          <a:p>
            <a:pPr algn="ctr">
              <a:lnSpc>
                <a:spcPts val="1960"/>
              </a:lnSpc>
              <a:spcBef>
                <a:spcPct val="0"/>
              </a:spcBef>
            </a:pPr>
            <a:r>
              <a:rPr b="1" lang="en-US" sz="1400">
                <a:solidFill>
                  <a:srgbClr val="FFFFFF"/>
                </a:solidFill>
                <a:latin typeface="Open Sans Bold"/>
                <a:ea typeface="Open Sans Bold"/>
                <a:cs typeface="Open Sans Bold"/>
                <a:sym typeface="Open Sans Bold"/>
              </a:rPr>
              <a:t>04</a:t>
            </a:r>
          </a:p>
        </p:txBody>
      </p:sp>
      <p:grpSp>
        <p:nvGrpSpPr>
          <p:cNvPr id="6" name="Group 6"/>
          <p:cNvGrpSpPr/>
          <p:nvPr/>
        </p:nvGrpSpPr>
        <p:grpSpPr>
          <a:xfrm>
            <a:off x="0" y="0"/>
            <a:ext cx="18298408" cy="10287000"/>
            <a:chOff x="0" y="0"/>
            <a:chExt cx="24397877" cy="13716000"/>
          </a:xfrm>
        </p:grpSpPr>
        <p:pic>
          <p:nvPicPr>
            <p:cNvPr id="7" name="Picture 7"/>
            <p:cNvPicPr>
              <a:picLocks noChangeAspect="1"/>
            </p:cNvPicPr>
            <p:nvPr/>
          </p:nvPicPr>
          <p:blipFill>
            <a:blip r:embed="rId2">
              <a:alphaModFix amt="42000"/>
            </a:blip>
            <a:srcRect l="36" r="36" t="53"/>
            <a:stretch>
              <a:fillRect/>
            </a:stretch>
          </p:blipFill>
          <p:spPr>
            <a:xfrm>
              <a:off x="0" y="0"/>
              <a:ext cx="24397877" cy="13716000"/>
            </a:xfrm>
            <a:prstGeom prst="rect">
              <a:avLst/>
            </a:prstGeom>
          </p:spPr>
        </p:pic>
      </p:grpSp>
      <p:grpSp>
        <p:nvGrpSpPr>
          <p:cNvPr id="8" name="Group 8"/>
          <p:cNvGrpSpPr/>
          <p:nvPr/>
        </p:nvGrpSpPr>
        <p:grpSpPr>
          <a:xfrm>
            <a:off x="8535036" y="1028700"/>
            <a:ext cx="1217927" cy="47625"/>
            <a:chOff x="0" y="0"/>
            <a:chExt cx="962313" cy="37630"/>
          </a:xfrm>
        </p:grpSpPr>
        <p:sp>
          <p:nvSpPr>
            <p:cNvPr id="9" name="Freeform 9"/>
            <p:cNvSpPr/>
            <p:nvPr/>
          </p:nvSpPr>
          <p:spPr>
            <a:xfrm>
              <a:off x="0" y="0"/>
              <a:ext cx="962313" cy="37630"/>
            </a:xfrm>
            <a:custGeom>
              <a:avLst/>
              <a:gdLst/>
              <a:ahLst/>
              <a:cxnLst/>
              <a:rect b="b" l="l" r="r" t="t"/>
              <a:pathLst>
                <a:path h="37630" w="962313">
                  <a:moveTo>
                    <a:pt x="0" y="0"/>
                  </a:moveTo>
                  <a:lnTo>
                    <a:pt x="962313" y="0"/>
                  </a:lnTo>
                  <a:lnTo>
                    <a:pt x="962313" y="37630"/>
                  </a:lnTo>
                  <a:lnTo>
                    <a:pt x="0" y="37630"/>
                  </a:lnTo>
                  <a:close/>
                </a:path>
              </a:pathLst>
            </a:custGeom>
            <a:solidFill>
              <a:srgbClr val="D19C26"/>
            </a:solidFill>
            <a:ln cap="sq">
              <a:noFill/>
              <a:prstDash val="solid"/>
              <a:miter/>
            </a:ln>
          </p:spPr>
        </p:sp>
        <p:sp>
          <p:nvSpPr>
            <p:cNvPr id="10" name="TextBox 10"/>
            <p:cNvSpPr txBox="1"/>
            <p:nvPr/>
          </p:nvSpPr>
          <p:spPr>
            <a:xfrm>
              <a:off x="0" y="-38100"/>
              <a:ext cx="962313" cy="75730"/>
            </a:xfrm>
            <a:prstGeom prst="rect">
              <a:avLst/>
            </a:prstGeom>
          </p:spPr>
          <p:txBody>
            <a:bodyPr anchor="ctr" bIns="50800" lIns="50800" rIns="50800" rtlCol="0" tIns="50800"/>
            <a:lstStyle/>
            <a:p>
              <a:pPr algn="r" indent="0" lvl="0" marL="0">
                <a:lnSpc>
                  <a:spcPts val="2659"/>
                </a:lnSpc>
                <a:spcBef>
                  <a:spcPct val="0"/>
                </a:spcBef>
              </a:pPr>
              <a:endParaRPr/>
            </a:p>
          </p:txBody>
        </p:sp>
      </p:grpSp>
      <p:sp>
        <p:nvSpPr>
          <p:cNvPr id="11" name="TextBox 11"/>
          <p:cNvSpPr txBox="1"/>
          <p:nvPr/>
        </p:nvSpPr>
        <p:spPr>
          <a:xfrm>
            <a:off x="5833269" y="441324"/>
            <a:ext cx="6621463" cy="587376"/>
          </a:xfrm>
          <a:prstGeom prst="rect">
            <a:avLst/>
          </a:prstGeom>
        </p:spPr>
        <p:txBody>
          <a:bodyPr anchor="t" bIns="0" lIns="0" rIns="0" rtlCol="0" tIns="0">
            <a:spAutoFit/>
          </a:bodyPr>
          <a:lstStyle/>
          <a:p>
            <a:pPr algn="ctr">
              <a:lnSpc>
                <a:spcPts val="4899"/>
              </a:lnSpc>
              <a:spcBef>
                <a:spcPct val="0"/>
              </a:spcBef>
            </a:pPr>
            <a:r>
              <a:rPr b="1" lang="en-US" sz="3499">
                <a:solidFill>
                  <a:srgbClr val="000000"/>
                </a:solidFill>
                <a:latin typeface="Canva Sans Bold"/>
                <a:ea typeface="Canva Sans Bold"/>
                <a:cs typeface="Canva Sans Bold"/>
                <a:sym typeface="Canva Sans Bold"/>
              </a:rPr>
              <a:t>CNN-Based ADLF Architecture</a:t>
            </a:r>
          </a:p>
        </p:txBody>
      </p:sp>
      <p:sp>
        <p:nvSpPr>
          <p:cNvPr id="12" name="TextBox 12"/>
          <p:cNvSpPr txBox="1"/>
          <p:nvPr/>
        </p:nvSpPr>
        <p:spPr>
          <a:xfrm>
            <a:off x="0" y="2201758"/>
            <a:ext cx="18288000" cy="7763511"/>
          </a:xfrm>
          <a:prstGeom prst="rect">
            <a:avLst/>
          </a:prstGeom>
        </p:spPr>
        <p:txBody>
          <a:bodyPr anchor="t" bIns="0" lIns="0" rIns="0" rtlCol="0" tIns="0">
            <a:spAutoFit/>
          </a:bodyPr>
          <a:lstStyle/>
          <a:p>
            <a:pPr algn="ctr">
              <a:lnSpc>
                <a:spcPts val="3639"/>
              </a:lnSpc>
              <a:spcBef>
                <a:spcPct val="0"/>
              </a:spcBef>
            </a:pPr>
            <a:r>
              <a:rPr b="1" lang="en-US" sz="2599">
                <a:solidFill>
                  <a:srgbClr val="000000"/>
                </a:solidFill>
                <a:latin typeface="Canva Sans Bold"/>
                <a:ea typeface="Canva Sans Bold"/>
                <a:cs typeface="Canva Sans Bold"/>
                <a:sym typeface="Canva Sans Bold"/>
              </a:rPr>
              <a:t>The proposed ADLF model is built using the Keras Functional API, comprising six parallel input branches:</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Image Input (64×64×3): processed through Dense-Inception blocks and Spatial Pyramid Pooling to extract spatial patterns.</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Tabular Input: fully connected layers handling general environmental and climatic variables.</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Weather Input: learns temporal-climate dependencies through dense layers.</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Soil Input: encodes soil chemistry and moisture patterns.</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Satellite Input: focuses on NDVI-based vegetation health indices.</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Crop Input: categorical embedding representing crop type.</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These branches are concatenated into a fusion layer, followed by:</a:t>
            </a:r>
          </a:p>
          <a:p>
            <a:pPr algn="ctr" indent="-280668" lvl="1" marL="561336">
              <a:lnSpc>
                <a:spcPts val="3639"/>
              </a:lnSpc>
              <a:spcBef>
                <a:spcPct val="0"/>
              </a:spcBef>
              <a:buFont typeface="Arial"/>
              <a:buChar char="•"/>
            </a:pPr>
            <a:r>
              <a:rPr b="1" lang="en-US" sz="2599">
                <a:solidFill>
                  <a:srgbClr val="000000"/>
                </a:solidFill>
                <a:latin typeface="Canva Sans Bold"/>
                <a:ea typeface="Canva Sans Bold"/>
                <a:cs typeface="Canva Sans Bold"/>
                <a:sym typeface="Canva Sans Bold"/>
              </a:rPr>
              <a:t>Channel and Spatial Attention (CnSAU) modules for feature refinement.</a:t>
            </a:r>
          </a:p>
          <a:p>
            <a:pPr algn="ctr" indent="-280668" lvl="1" marL="561336">
              <a:lnSpc>
                <a:spcPts val="3639"/>
              </a:lnSpc>
              <a:spcBef>
                <a:spcPct val="0"/>
              </a:spcBef>
              <a:buFont typeface="Arial"/>
              <a:buChar char="•"/>
            </a:pPr>
            <a:r>
              <a:rPr b="1" lang="en-US" sz="2599">
                <a:solidFill>
                  <a:srgbClr val="000000"/>
                </a:solidFill>
                <a:latin typeface="Canva Sans Bold"/>
                <a:ea typeface="Canva Sans Bold"/>
                <a:cs typeface="Canva Sans Bold"/>
                <a:sym typeface="Canva Sans Bold"/>
              </a:rPr>
              <a:t>Dual output heads:</a:t>
            </a:r>
          </a:p>
          <a:p>
            <a:pPr algn="ctr" indent="-374224" lvl="2" marL="1122671">
              <a:lnSpc>
                <a:spcPts val="3639"/>
              </a:lnSpc>
              <a:spcBef>
                <a:spcPct val="0"/>
              </a:spcBef>
              <a:buFont typeface="Arial"/>
              <a:buChar char="⚬"/>
            </a:pPr>
            <a:r>
              <a:rPr b="1" lang="en-US" sz="2599">
                <a:solidFill>
                  <a:srgbClr val="000000"/>
                </a:solidFill>
                <a:latin typeface="Canva Sans Bold"/>
                <a:ea typeface="Canva Sans Bold"/>
                <a:cs typeface="Canva Sans Bold"/>
                <a:sym typeface="Canva Sans Bold"/>
              </a:rPr>
              <a:t>Regression head – predicts numerical yield.</a:t>
            </a:r>
          </a:p>
          <a:p>
            <a:pPr algn="ctr" indent="-374224" lvl="2" marL="1122671">
              <a:lnSpc>
                <a:spcPts val="3639"/>
              </a:lnSpc>
              <a:spcBef>
                <a:spcPct val="0"/>
              </a:spcBef>
              <a:buFont typeface="Arial"/>
              <a:buChar char="⚬"/>
            </a:pPr>
            <a:r>
              <a:rPr b="1" lang="en-US" sz="2599">
                <a:solidFill>
                  <a:srgbClr val="000000"/>
                </a:solidFill>
                <a:latin typeface="Canva Sans Bold"/>
                <a:ea typeface="Canva Sans Bold"/>
                <a:cs typeface="Canva Sans Bold"/>
                <a:sym typeface="Canva Sans Bold"/>
              </a:rPr>
              <a:t>Classification head – predicts yield category (low, medium, high).</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Optimization used Adam optimizer, categorical cross-entropy (classification), and MAE (regression) losses with combined weighting.</a:t>
            </a:r>
          </a:p>
          <a:p>
            <a:pPr algn="ctr">
              <a:lnSpc>
                <a:spcPts val="3639"/>
              </a:lnSpc>
              <a:spcBef>
                <a:spcPct val="0"/>
              </a:spcBef>
            </a:pPr>
            <a:r>
              <a:rPr b="1" lang="en-US" sz="2599">
                <a:solidFill>
                  <a:srgbClr val="000000"/>
                </a:solidFill>
                <a:latin typeface="Canva Sans Bold"/>
                <a:ea typeface="Canva Sans Bold"/>
                <a:cs typeface="Canva Sans Bold"/>
                <a:sym typeface="Canva Sans Bold"/>
              </a:rPr>
              <a:t> Training employed callbacks: EarlyStopping, ReduceLROnPlateau, and ModelCheckpoint.</a:t>
            </a:r>
          </a:p>
          <a:p>
            <a:pPr algn="ctr">
              <a:lnSpc>
                <a:spcPts val="3639"/>
              </a:lnSpc>
              <a:spcBef>
                <a:spcPct val="0"/>
              </a:spcBef>
            </a:pPr>
            <a:endParaRPr b="1" lang="en-US" sz="2599">
              <a:solidFill>
                <a:srgbClr val="000000"/>
              </a:solidFill>
              <a:latin typeface="Canva Sans Bold"/>
              <a:ea typeface="Canva Sans Bold"/>
              <a:cs typeface="Canva Sans Bold"/>
              <a:sym typeface="Canva Sans Bold"/>
            </a:endParaR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a:off x="17259300" y="9258300"/>
            <a:ext cx="1028700" cy="1028700"/>
            <a:chOff x="0" y="0"/>
            <a:chExt cx="812800" cy="812800"/>
          </a:xfrm>
        </p:grpSpPr>
        <p:sp>
          <p:nvSpPr>
            <p:cNvPr id="3" name="Freeform 3"/>
            <p:cNvSpPr/>
            <p:nvPr/>
          </p:nvSpPr>
          <p:spPr>
            <a:xfrm>
              <a:off x="0" y="0"/>
              <a:ext cx="812800" cy="812800"/>
            </a:xfrm>
            <a:custGeom>
              <a:avLst/>
              <a:gdLst/>
              <a:ahLst/>
              <a:cxnLst/>
              <a:rect b="b" l="l" r="r" t="t"/>
              <a:pathLst>
                <a:path h="812800" w="812800">
                  <a:moveTo>
                    <a:pt x="0" y="0"/>
                  </a:moveTo>
                  <a:lnTo>
                    <a:pt x="812800" y="0"/>
                  </a:lnTo>
                  <a:lnTo>
                    <a:pt x="812800" y="812800"/>
                  </a:lnTo>
                  <a:lnTo>
                    <a:pt x="0" y="812800"/>
                  </a:lnTo>
                  <a:close/>
                </a:path>
              </a:pathLst>
            </a:custGeom>
            <a:solidFill>
              <a:srgbClr val="D19C26"/>
            </a:solidFill>
          </p:spPr>
        </p:sp>
        <p:sp>
          <p:nvSpPr>
            <p:cNvPr id="4" name="TextBox 4"/>
            <p:cNvSpPr txBox="1"/>
            <p:nvPr/>
          </p:nvSpPr>
          <p:spPr>
            <a:xfrm>
              <a:off x="0" y="-38100"/>
              <a:ext cx="812800" cy="850900"/>
            </a:xfrm>
            <a:prstGeom prst="rect">
              <a:avLst/>
            </a:prstGeom>
          </p:spPr>
          <p:txBody>
            <a:bodyPr anchor="ctr" bIns="50800" lIns="50800" rIns="50800" rtlCol="0" tIns="50800"/>
            <a:lstStyle/>
            <a:p>
              <a:pPr algn="ctr">
                <a:lnSpc>
                  <a:spcPts val="2659"/>
                </a:lnSpc>
                <a:spcBef>
                  <a:spcPct val="0"/>
                </a:spcBef>
              </a:pPr>
              <a:endParaRPr/>
            </a:p>
          </p:txBody>
        </p:sp>
      </p:grpSp>
      <p:sp>
        <p:nvSpPr>
          <p:cNvPr id="5" name="TextBox 5"/>
          <p:cNvSpPr txBox="1"/>
          <p:nvPr/>
        </p:nvSpPr>
        <p:spPr>
          <a:xfrm>
            <a:off x="17413153" y="9638067"/>
            <a:ext cx="720994" cy="240591"/>
          </a:xfrm>
          <a:prstGeom prst="rect">
            <a:avLst/>
          </a:prstGeom>
        </p:spPr>
        <p:txBody>
          <a:bodyPr anchor="t" bIns="0" lIns="0" rIns="0" rtlCol="0" tIns="0">
            <a:spAutoFit/>
          </a:bodyPr>
          <a:lstStyle/>
          <a:p>
            <a:pPr algn="ctr">
              <a:lnSpc>
                <a:spcPts val="1960"/>
              </a:lnSpc>
              <a:spcBef>
                <a:spcPct val="0"/>
              </a:spcBef>
            </a:pPr>
            <a:r>
              <a:rPr b="1" lang="en-US" sz="1400">
                <a:solidFill>
                  <a:srgbClr val="FFFFFF"/>
                </a:solidFill>
                <a:latin typeface="Open Sans Bold"/>
                <a:ea typeface="Open Sans Bold"/>
                <a:cs typeface="Open Sans Bold"/>
                <a:sym typeface="Open Sans Bold"/>
              </a:rPr>
              <a:t>09</a:t>
            </a:r>
          </a:p>
        </p:txBody>
      </p:sp>
      <p:grpSp>
        <p:nvGrpSpPr>
          <p:cNvPr id="6" name="Group 6"/>
          <p:cNvGrpSpPr/>
          <p:nvPr/>
        </p:nvGrpSpPr>
        <p:grpSpPr>
          <a:xfrm>
            <a:off x="0" y="0"/>
            <a:ext cx="18288000" cy="10287000"/>
            <a:chOff x="0" y="0"/>
            <a:chExt cx="24384000" cy="13716000"/>
          </a:xfrm>
        </p:grpSpPr>
        <p:pic>
          <p:nvPicPr>
            <p:cNvPr id="7" name="Picture 7"/>
            <p:cNvPicPr>
              <a:picLocks noChangeAspect="1"/>
            </p:cNvPicPr>
            <p:nvPr/>
          </p:nvPicPr>
          <p:blipFill>
            <a:blip r:embed="rId2">
              <a:alphaModFix amt="30000"/>
            </a:blip>
            <a:srcRect l="19" r="19"/>
            <a:stretch>
              <a:fillRect/>
            </a:stretch>
          </p:blipFill>
          <p:spPr>
            <a:xfrm>
              <a:off x="0" y="0"/>
              <a:ext cx="24384000" cy="13716000"/>
            </a:xfrm>
            <a:prstGeom prst="rect">
              <a:avLst/>
            </a:prstGeom>
          </p:spPr>
        </p:pic>
      </p:grpSp>
      <p:grpSp>
        <p:nvGrpSpPr>
          <p:cNvPr id="8" name="Group 8"/>
          <p:cNvGrpSpPr/>
          <p:nvPr/>
        </p:nvGrpSpPr>
        <p:grpSpPr>
          <a:xfrm>
            <a:off x="12507494" y="1166422"/>
            <a:ext cx="5626653" cy="145469"/>
            <a:chOff x="0" y="0"/>
            <a:chExt cx="4445751" cy="114939"/>
          </a:xfrm>
        </p:grpSpPr>
        <p:sp>
          <p:nvSpPr>
            <p:cNvPr id="9" name="Freeform 9"/>
            <p:cNvSpPr/>
            <p:nvPr/>
          </p:nvSpPr>
          <p:spPr>
            <a:xfrm>
              <a:off x="0" y="0"/>
              <a:ext cx="4445751" cy="114939"/>
            </a:xfrm>
            <a:custGeom>
              <a:avLst/>
              <a:gdLst/>
              <a:ahLst/>
              <a:cxnLst/>
              <a:rect b="b" l="l" r="r" t="t"/>
              <a:pathLst>
                <a:path h="114939" w="4445751">
                  <a:moveTo>
                    <a:pt x="0" y="0"/>
                  </a:moveTo>
                  <a:lnTo>
                    <a:pt x="4445751" y="0"/>
                  </a:lnTo>
                  <a:lnTo>
                    <a:pt x="4445751" y="114939"/>
                  </a:lnTo>
                  <a:lnTo>
                    <a:pt x="0" y="114939"/>
                  </a:lnTo>
                  <a:close/>
                </a:path>
              </a:pathLst>
            </a:custGeom>
            <a:solidFill>
              <a:srgbClr val="D19C26"/>
            </a:solidFill>
          </p:spPr>
        </p:sp>
        <p:sp>
          <p:nvSpPr>
            <p:cNvPr id="10" name="TextBox 10"/>
            <p:cNvSpPr txBox="1"/>
            <p:nvPr/>
          </p:nvSpPr>
          <p:spPr>
            <a:xfrm>
              <a:off x="0" y="-38100"/>
              <a:ext cx="4445751" cy="153039"/>
            </a:xfrm>
            <a:prstGeom prst="rect">
              <a:avLst/>
            </a:prstGeom>
          </p:spPr>
          <p:txBody>
            <a:bodyPr anchor="ctr" bIns="50800" lIns="50800" rIns="50800" rtlCol="0" tIns="50800"/>
            <a:lstStyle/>
            <a:p>
              <a:pPr algn="ctr">
                <a:lnSpc>
                  <a:spcPts val="2659"/>
                </a:lnSpc>
                <a:spcBef>
                  <a:spcPct val="0"/>
                </a:spcBef>
              </a:pPr>
              <a:endParaRPr/>
            </a:p>
          </p:txBody>
        </p:sp>
      </p:grpSp>
      <p:sp>
        <p:nvSpPr>
          <p:cNvPr id="11" name="Freeform 11"/>
          <p:cNvSpPr/>
          <p:nvPr/>
        </p:nvSpPr>
        <p:spPr>
          <a:xfrm>
            <a:off x="3493371" y="2968008"/>
            <a:ext cx="11301259" cy="4350985"/>
          </a:xfrm>
          <a:custGeom>
            <a:avLst/>
            <a:gdLst/>
            <a:ahLst/>
            <a:cxnLst/>
            <a:rect b="b" l="l" r="r" t="t"/>
            <a:pathLst>
              <a:path h="4350985" w="11301259">
                <a:moveTo>
                  <a:pt x="0" y="0"/>
                </a:moveTo>
                <a:lnTo>
                  <a:pt x="11301258" y="0"/>
                </a:lnTo>
                <a:lnTo>
                  <a:pt x="11301258" y="4350984"/>
                </a:lnTo>
                <a:lnTo>
                  <a:pt x="0" y="4350984"/>
                </a:lnTo>
                <a:lnTo>
                  <a:pt x="0" y="0"/>
                </a:lnTo>
                <a:close/>
              </a:path>
            </a:pathLst>
          </a:custGeom>
          <a:blipFill>
            <a:blip r:embed="rId3"/>
            <a:stretch>
              <a:fillRect/>
            </a:stretch>
          </a:blipFill>
        </p:spPr>
      </p:sp>
      <p:sp>
        <p:nvSpPr>
          <p:cNvPr id="12" name="TextBox 12"/>
          <p:cNvSpPr txBox="1"/>
          <p:nvPr/>
        </p:nvSpPr>
        <p:spPr>
          <a:xfrm>
            <a:off x="12507494" y="448309"/>
            <a:ext cx="5284788" cy="580391"/>
          </a:xfrm>
          <a:prstGeom prst="rect">
            <a:avLst/>
          </a:prstGeom>
        </p:spPr>
        <p:txBody>
          <a:bodyPr anchor="t" bIns="0" lIns="0" rIns="0" rtlCol="0" tIns="0">
            <a:spAutoFit/>
          </a:bodyPr>
          <a:lstStyle/>
          <a:p>
            <a:pPr algn="ctr">
              <a:lnSpc>
                <a:spcPts val="4759"/>
              </a:lnSpc>
              <a:spcBef>
                <a:spcPct val="0"/>
              </a:spcBef>
            </a:pPr>
            <a:r>
              <a:rPr b="1" lang="en-US" sz="3399">
                <a:solidFill>
                  <a:srgbClr val="000000"/>
                </a:solidFill>
                <a:latin typeface="Canva Sans Bold"/>
                <a:ea typeface="Canva Sans Bold"/>
                <a:cs typeface="Canva Sans Bold"/>
                <a:sym typeface="Canva Sans Bold"/>
              </a:rPr>
              <a:t>Results and Performance</a:t>
            </a:r>
          </a:p>
        </p:txBody>
      </p:sp>
      <p:sp>
        <p:nvSpPr>
          <p:cNvPr id="13" name="TextBox 13"/>
          <p:cNvSpPr txBox="1"/>
          <p:nvPr/>
        </p:nvSpPr>
        <p:spPr>
          <a:xfrm>
            <a:off x="1750473" y="2324019"/>
            <a:ext cx="13570347" cy="389255"/>
          </a:xfrm>
          <a:prstGeom prst="rect">
            <a:avLst/>
          </a:prstGeom>
        </p:spPr>
        <p:txBody>
          <a:bodyPr anchor="t" bIns="0" lIns="0" rIns="0" rtlCol="0" tIns="0">
            <a:spAutoFit/>
          </a:bodyPr>
          <a:lstStyle/>
          <a:p>
            <a:pPr algn="ctr">
              <a:lnSpc>
                <a:spcPts val="3219"/>
              </a:lnSpc>
              <a:spcBef>
                <a:spcPct val="0"/>
              </a:spcBef>
            </a:pPr>
            <a:r>
              <a:rPr b="1" lang="en-US" sz="2299">
                <a:solidFill>
                  <a:srgbClr val="000000"/>
                </a:solidFill>
                <a:latin typeface="Canva Sans Bold"/>
                <a:ea typeface="Canva Sans Bold"/>
                <a:cs typeface="Canva Sans Bold"/>
                <a:sym typeface="Canva Sans Bold"/>
              </a:rPr>
              <a:t>After deterministic evaluation, the ADLF model achieved the following metrics on the test split: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D19C26">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593232" y="3064381"/>
            <a:ext cx="15101537" cy="3272604"/>
          </a:xfrm>
          <a:prstGeom prst="rect">
            <a:avLst/>
          </a:prstGeom>
        </p:spPr>
        <p:txBody>
          <a:bodyPr lIns="0" tIns="0" rIns="0" bIns="0" rtlCol="0" anchor="t">
            <a:spAutoFit/>
          </a:bodyPr>
          <a:lstStyle/>
          <a:p>
            <a:pPr algn="ctr">
              <a:lnSpc>
                <a:spcPts val="25327"/>
              </a:lnSpc>
              <a:spcBef>
                <a:spcPct val="0"/>
              </a:spcBef>
            </a:pPr>
            <a:r>
              <a:rPr lang="en-US" sz="18090" b="1">
                <a:solidFill>
                  <a:srgbClr val="FFFFF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918</Words>
  <Application>Microsoft Office PowerPoint</Application>
  <PresentationFormat>Custom</PresentationFormat>
  <Paragraphs>64</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Calibri</vt:lpstr>
      <vt:lpstr>Arimo Bold</vt:lpstr>
      <vt:lpstr>Canva Sans Bold</vt:lpstr>
      <vt:lpstr>Open Sans Bold</vt:lpstr>
      <vt:lpstr>Poppins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Improving crop production using an agro-deep learning framework in precision agriculture</dc:title>
  <dc:creator>Sandra Kaveesher</dc:creator>
  <cp:lastModifiedBy>Sandra Kaveesher</cp:lastModifiedBy>
  <cp:revision>3</cp:revision>
  <dcterms:created xsi:type="dcterms:W3CDTF">2006-08-16T00:00:00Z</dcterms:created>
  <dcterms:modified xsi:type="dcterms:W3CDTF">2025-11-28T04:10:36Z</dcterms:modified>
  <dc:identifier>DAG1qMe-KGs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2427444</vt:lpwstr>
  </property>
  <property fmtid="{D5CDD505-2E9C-101B-9397-08002B2CF9AE}" name="NXPowerLiteSettings" pid="3">
    <vt:lpwstr>F7000400038000</vt:lpwstr>
  </property>
  <property fmtid="{D5CDD505-2E9C-101B-9397-08002B2CF9AE}" name="NXPowerLiteVersion" pid="4">
    <vt:lpwstr>S10.9.4</vt:lpwstr>
  </property>
</Properties>
</file>